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
<Relationship Id="rId18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0B3D5C"/>
          </a:solidFill>
          <a:latin typeface="Calibri"/>
        </a:defRPr>
      </a:lvl1pPr>
    </p:titleStyle>
    <p:bodyStyle>
      <a:lvl1pPr>
        <a:defRPr sz="1800">
          <a:solidFill>
            <a:srgbClr val="1A2A38"/>
          </a:solidFill>
          <a:latin typeface="Calibri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AccentBlock"/>
          <p:cNvSpPr/>
          <p:nvPr/>
        </p:nvSpPr>
        <p:spPr>
          <a:xfrm>
            <a:off x="8077200" y="0"/>
            <a:ext cx="4114800" cy="6858000"/>
          </a:xfrm>
          <a:prstGeom prst="rect">
            <a:avLst/>
          </a:prstGeom>
          <a:solidFill>
            <a:srgbClr val="07263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4" name="AccentBar"/>
          <p:cNvSpPr/>
          <p:nvPr/>
        </p:nvSpPr>
        <p:spPr>
          <a:xfrm>
            <a:off x="731520" y="2377440"/>
            <a:ext cx="109728" cy="2194560"/>
          </a:xfrm>
          <a:prstGeom prst="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5" name="Tagline"/>
          <p:cNvSpPr txBox="1"/>
          <p:nvPr/>
        </p:nvSpPr>
        <p:spPr>
          <a:xfrm>
            <a:off x="1005840" y="2194560"/>
            <a:ext cx="7315200" cy="4572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F2A65A"/>
                </a:solidFill>
                <a:latin typeface="Calibri"/>
              </a:rPr>
              <a:t>GRADUATION PROJECT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1005840" y="2651760"/>
            <a:ext cx="9144000" cy="146304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7200" b="1" dirty="0">
                <a:solidFill>
                  <a:srgbClr val="FFFFFF"/>
                </a:solidFill>
                <a:latin typeface="Calibri"/>
              </a:rPr>
              <a:t>Trip Planner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1005840" y="4114800"/>
            <a:ext cx="914400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2400" dirty="0">
                <a:solidFill>
                  <a:srgbClr val="DDE7EF"/>
                </a:solidFill>
                <a:latin typeface="Calibri"/>
              </a:rPr>
              <a:t>AI-Powered Smart Travel Planning System</a:t>
            </a:r>
          </a:p>
        </p:txBody>
      </p:sp>
      <p:sp>
        <p:nvSpPr>
          <p:cNvPr id="8" name="Info"/>
          <p:cNvSpPr txBox="1"/>
          <p:nvPr/>
        </p:nvSpPr>
        <p:spPr>
          <a:xfrm>
            <a:off x="1005840" y="6035040"/>
            <a:ext cx="7315200" cy="3657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200" dirty="0">
                <a:solidFill>
                  <a:srgbClr val="9FB3C2"/>
                </a:solidFill>
                <a:latin typeface="Calibri"/>
              </a:rPr>
              <a:t>Presented  |  2026</a:t>
            </a:r>
          </a:p>
        </p:txBody>
      </p:sp>
      <p:sp>
        <p:nvSpPr>
          <p:cNvPr id="9" name="Circle1"/>
          <p:cNvSpPr/>
          <p:nvPr/>
        </p:nvSpPr>
        <p:spPr>
          <a:xfrm>
            <a:off x="9814560" y="822960"/>
            <a:ext cx="1463040" cy="1463040"/>
          </a:xfrm>
          <a:prstGeom prst="ellipse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0" name="Circle2"/>
          <p:cNvSpPr/>
          <p:nvPr/>
        </p:nvSpPr>
        <p:spPr>
          <a:xfrm>
            <a:off x="10911840" y="4572000"/>
            <a:ext cx="822960" cy="822960"/>
          </a:xfrm>
          <a:prstGeom prst="ellipse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Stripe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SlideTitle"/>
          <p:cNvSpPr txBox="1"/>
          <p:nvPr/>
        </p:nvSpPr>
        <p:spPr>
          <a:xfrm>
            <a:off x="548640" y="320040"/>
            <a:ext cx="10363200" cy="8229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B3D5C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itleAccent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5" name="PageNum"/>
          <p:cNvSpPr txBox="1"/>
          <p:nvPr/>
        </p:nvSpPr>
        <p:spPr>
          <a:xfrm>
            <a:off x="10728960" y="411480"/>
            <a:ext cx="1097280" cy="3657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100" b="1" dirty="0">
                <a:solidFill>
                  <a:srgbClr val="5A6B7A"/>
                </a:solidFill>
                <a:latin typeface="Calibri"/>
              </a:rPr>
              <a:t>02 / 16</a:t>
            </a:r>
          </a:p>
        </p:txBody>
      </p:sp>
      <p:sp>
        <p:nvSpPr>
          <p:cNvPr id="6" name="FooterStripe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7" name="FooterLabel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dirty="0">
                <a:solidFill>
                  <a:srgbClr val="5A6B7A"/>
                </a:solidFill>
                <a:latin typeface="Calibri"/>
              </a:rPr>
              <a:t>Trip Planner  |  Graduation Project</a:t>
            </a:r>
          </a:p>
        </p:txBody>
      </p:sp>
      <p:sp>
        <p:nvSpPr>
          <p:cNvPr id="8" name="Intro"/>
          <p:cNvSpPr txBox="1"/>
          <p:nvPr/>
        </p:nvSpPr>
        <p:spPr>
          <a:xfrm>
            <a:off x="548640" y="1325880"/>
            <a:ext cx="11094720" cy="6400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27B5B0"/>
                </a:solidFill>
                <a:latin typeface="Calibri"/>
              </a:rPr>
              <a:t>Planning a trip is time-consuming, fragmented, and rarely personalized.</a:t>
            </a:r>
          </a:p>
        </p:txBody>
      </p:sp>
      <p:sp>
        <p:nvSpPr>
          <p:cNvPr id="9" name="Panel"/>
          <p:cNvSpPr/>
          <p:nvPr/>
        </p:nvSpPr>
        <p:spPr>
          <a:xfrm>
            <a:off x="548640" y="2057400"/>
            <a:ext cx="11094720" cy="4023360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0" name="Bullets"/>
          <p:cNvSpPr txBox="1"/>
          <p:nvPr/>
        </p:nvSpPr>
        <p:spPr>
          <a:xfrm>
            <a:off x="914400" y="2240280"/>
            <a:ext cx="10363200" cy="36576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Travelers juggle many tools: maps, reviews, blogs, booking sites.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Generic recommendations ignore budget, group type, and personal taste.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Building a realistic day-by-day itinerary takes hours of manual work.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Distance, timing, and cost trade-offs are hard to balance manually.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No single platform combines planning, recommendations, and reservations.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Stripe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SlideTitle"/>
          <p:cNvSpPr txBox="1"/>
          <p:nvPr/>
        </p:nvSpPr>
        <p:spPr>
          <a:xfrm>
            <a:off x="548640" y="320040"/>
            <a:ext cx="10363200" cy="8229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B3D5C"/>
                </a:solidFill>
                <a:latin typeface="Calibri"/>
              </a:rPr>
              <a:t>Proposed Solution</a:t>
            </a:r>
          </a:p>
        </p:txBody>
      </p:sp>
      <p:sp>
        <p:nvSpPr>
          <p:cNvPr id="4" name="TitleAccent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5" name="PageNum"/>
          <p:cNvSpPr txBox="1"/>
          <p:nvPr/>
        </p:nvSpPr>
        <p:spPr>
          <a:xfrm>
            <a:off x="10728960" y="411480"/>
            <a:ext cx="1097280" cy="3657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100" b="1" dirty="0">
                <a:solidFill>
                  <a:srgbClr val="5A6B7A"/>
                </a:solidFill>
                <a:latin typeface="Calibri"/>
              </a:rPr>
              <a:t>03 / 16</a:t>
            </a:r>
          </a:p>
        </p:txBody>
      </p:sp>
      <p:sp>
        <p:nvSpPr>
          <p:cNvPr id="6" name="FooterStripe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7" name="FooterLabel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dirty="0">
                <a:solidFill>
                  <a:srgbClr val="5A6B7A"/>
                </a:solidFill>
                <a:latin typeface="Calibri"/>
              </a:rPr>
              <a:t>Trip Planner  |  Graduation Project</a:t>
            </a:r>
          </a:p>
        </p:txBody>
      </p:sp>
      <p:sp>
        <p:nvSpPr>
          <p:cNvPr id="8" name="Intro"/>
          <p:cNvSpPr txBox="1"/>
          <p:nvPr/>
        </p:nvSpPr>
        <p:spPr>
          <a:xfrm>
            <a:off x="548640" y="1325880"/>
            <a:ext cx="11094720" cy="6400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27B5B0"/>
                </a:solidFill>
                <a:latin typeface="Calibri"/>
              </a:rPr>
              <a:t>An intelligent travel companion that builds personalized trips in seconds.</a:t>
            </a:r>
          </a:p>
        </p:txBody>
      </p:sp>
      <p:sp>
        <p:nvSpPr>
          <p:cNvPr id="9" name="Panel"/>
          <p:cNvSpPr/>
          <p:nvPr/>
        </p:nvSpPr>
        <p:spPr>
          <a:xfrm>
            <a:off x="548640" y="2057400"/>
            <a:ext cx="11094720" cy="4023360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0" name="Bullets"/>
          <p:cNvSpPr txBox="1"/>
          <p:nvPr/>
        </p:nvSpPr>
        <p:spPr>
          <a:xfrm>
            <a:off x="914400" y="2240280"/>
            <a:ext cx="10363200" cy="36576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User enters destination, duration, budget, trip type, and travelers.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AI engine generates a complete, optimized day-by-day itinerary.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Smart recommendations powered by Google Maps and Google Places APIs.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Interactive map with markers, distances, and routes between stops.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WhatsApp integration for reservations and trip reminders.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All trips stored securely in the database for history and reuse.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Stripe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SlideTitle"/>
          <p:cNvSpPr txBox="1"/>
          <p:nvPr/>
        </p:nvSpPr>
        <p:spPr>
          <a:xfrm>
            <a:off x="548640" y="320040"/>
            <a:ext cx="10363200" cy="8229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B3D5C"/>
                </a:solidFill>
                <a:latin typeface="Calibri"/>
              </a:rPr>
              <a:t>Project Objectives</a:t>
            </a:r>
          </a:p>
        </p:txBody>
      </p:sp>
      <p:sp>
        <p:nvSpPr>
          <p:cNvPr id="4" name="TitleAccent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5" name="PageNum"/>
          <p:cNvSpPr txBox="1"/>
          <p:nvPr/>
        </p:nvSpPr>
        <p:spPr>
          <a:xfrm>
            <a:off x="10728960" y="411480"/>
            <a:ext cx="1097280" cy="3657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100" b="1" dirty="0">
                <a:solidFill>
                  <a:srgbClr val="5A6B7A"/>
                </a:solidFill>
                <a:latin typeface="Calibri"/>
              </a:rPr>
              <a:t>04 / 16</a:t>
            </a:r>
          </a:p>
        </p:txBody>
      </p:sp>
      <p:sp>
        <p:nvSpPr>
          <p:cNvPr id="6" name="FooterStripe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7" name="FooterLabel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dirty="0">
                <a:solidFill>
                  <a:srgbClr val="5A6B7A"/>
                </a:solidFill>
                <a:latin typeface="Calibri"/>
              </a:rPr>
              <a:t>Trip Planner  |  Graduation Project</a:t>
            </a:r>
          </a:p>
        </p:txBody>
      </p:sp>
      <p:sp>
        <p:nvSpPr>
          <p:cNvPr id="8" name="Intro"/>
          <p:cNvSpPr txBox="1"/>
          <p:nvPr/>
        </p:nvSpPr>
        <p:spPr>
          <a:xfrm>
            <a:off x="548640" y="1325880"/>
            <a:ext cx="11094720" cy="6400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27B5B0"/>
                </a:solidFill>
                <a:latin typeface="Calibri"/>
              </a:rPr>
              <a:t>Deliver a complete, intelligent, end-to-end travel planning platform.</a:t>
            </a:r>
          </a:p>
        </p:txBody>
      </p:sp>
      <p:sp>
        <p:nvSpPr>
          <p:cNvPr id="9" name="Panel"/>
          <p:cNvSpPr/>
          <p:nvPr/>
        </p:nvSpPr>
        <p:spPr>
          <a:xfrm>
            <a:off x="548640" y="2057400"/>
            <a:ext cx="11094720" cy="4023360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0" name="Bullets"/>
          <p:cNvSpPr txBox="1"/>
          <p:nvPr/>
        </p:nvSpPr>
        <p:spPr>
          <a:xfrm>
            <a:off x="914400" y="2240280"/>
            <a:ext cx="10363200" cy="36576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Automate itinerary creation tailored to user preferences.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Integrate authoritative location data through Google APIs.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Apply ranking and AI logic to refine recommendations.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Provide a clean, responsive, user-friendly interface.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Enable real-world actions: reservations and reminders via WhatsApp.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Persist user data, trips, and preferences in a robust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Stripe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SlideTitle"/>
          <p:cNvSpPr txBox="1"/>
          <p:nvPr/>
        </p:nvSpPr>
        <p:spPr>
          <a:xfrm>
            <a:off x="548640" y="320040"/>
            <a:ext cx="10363200" cy="8229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B3D5C"/>
                </a:solidFill>
                <a:latin typeface="Calibri"/>
              </a:rPr>
              <a:t>System Features</a:t>
            </a:r>
          </a:p>
        </p:txBody>
      </p:sp>
      <p:sp>
        <p:nvSpPr>
          <p:cNvPr id="4" name="TitleAccent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5" name="PageNum"/>
          <p:cNvSpPr txBox="1"/>
          <p:nvPr/>
        </p:nvSpPr>
        <p:spPr>
          <a:xfrm>
            <a:off x="10728960" y="411480"/>
            <a:ext cx="1097280" cy="3657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100" b="1" dirty="0">
                <a:solidFill>
                  <a:srgbClr val="5A6B7A"/>
                </a:solidFill>
                <a:latin typeface="Calibri"/>
              </a:rPr>
              <a:t>05 / 16</a:t>
            </a:r>
          </a:p>
        </p:txBody>
      </p:sp>
      <p:sp>
        <p:nvSpPr>
          <p:cNvPr id="6" name="FooterStripe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7" name="FooterLabel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dirty="0">
                <a:solidFill>
                  <a:srgbClr val="5A6B7A"/>
                </a:solidFill>
                <a:latin typeface="Calibri"/>
              </a:rPr>
              <a:t>Trip Planner  |  Graduation Project</a:t>
            </a:r>
          </a:p>
        </p:txBody>
      </p:sp>
      <p:sp>
        <p:nvSpPr>
          <p:cNvPr id="8" name="LeftPanel"/>
          <p:cNvSpPr/>
          <p:nvPr/>
        </p:nvSpPr>
        <p:spPr>
          <a:xfrm>
            <a:off x="548640" y="1554480"/>
            <a:ext cx="5273040" cy="4206240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9" name="LeftHeader"/>
          <p:cNvSpPr/>
          <p:nvPr/>
        </p:nvSpPr>
        <p:spPr>
          <a:xfrm>
            <a:off x="548640" y="1554480"/>
            <a:ext cx="5273040" cy="548640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0" name="LeftHeaderText"/>
          <p:cNvSpPr txBox="1"/>
          <p:nvPr/>
        </p:nvSpPr>
        <p:spPr>
          <a:xfrm>
            <a:off x="777240" y="1618488"/>
            <a:ext cx="4815840" cy="45720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800" b="1" dirty="0">
                <a:solidFill>
                  <a:srgbClr val="FFFFFF"/>
                </a:solidFill>
                <a:latin typeface="Calibri"/>
              </a:rPr>
              <a:t>Trip Inputs</a:t>
            </a:r>
          </a:p>
        </p:txBody>
      </p:sp>
      <p:sp>
        <p:nvSpPr>
          <p:cNvPr id="11" name="LeftItems"/>
          <p:cNvSpPr txBox="1"/>
          <p:nvPr/>
        </p:nvSpPr>
        <p:spPr>
          <a:xfrm>
            <a:off x="868680" y="2331720"/>
            <a:ext cx="4815840" cy="329184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Destination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Trip duration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Budget level (Low / Medium / High)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Trip type (Family, Adventure, Romantic, Cultural, Relaxation)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Number of travelers</a:t>
            </a:r>
          </a:p>
        </p:txBody>
      </p:sp>
      <p:sp>
        <p:nvSpPr>
          <p:cNvPr id="12" name="RightPanel"/>
          <p:cNvSpPr/>
          <p:nvPr/>
        </p:nvSpPr>
        <p:spPr>
          <a:xfrm>
            <a:off x="6370320" y="1554480"/>
            <a:ext cx="5273040" cy="4206240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3" name="RightHeader"/>
          <p:cNvSpPr/>
          <p:nvPr/>
        </p:nvSpPr>
        <p:spPr>
          <a:xfrm>
            <a:off x="6370320" y="1554480"/>
            <a:ext cx="5273040" cy="548640"/>
          </a:xfrm>
          <a:prstGeom prst="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4" name="RightHeaderText"/>
          <p:cNvSpPr txBox="1"/>
          <p:nvPr/>
        </p:nvSpPr>
        <p:spPr>
          <a:xfrm>
            <a:off x="6598920" y="1618488"/>
            <a:ext cx="4815840" cy="45720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800" b="1" dirty="0">
                <a:solidFill>
                  <a:srgbClr val="FFFFFF"/>
                </a:solidFill>
                <a:latin typeface="Calibri"/>
              </a:rPr>
              <a:t>Smart Outputs</a:t>
            </a:r>
          </a:p>
        </p:txBody>
      </p:sp>
      <p:sp>
        <p:nvSpPr>
          <p:cNvPr id="15" name="RightItems"/>
          <p:cNvSpPr txBox="1"/>
          <p:nvPr/>
        </p:nvSpPr>
        <p:spPr>
          <a:xfrm>
            <a:off x="6690360" y="2331720"/>
            <a:ext cx="4815840" cy="329184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Personalized daily itinerary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Recommended attractions, restaurants &amp; cafes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Interactive map with markers &amp; distances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Budget-aware alternative suggestions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WhatsApp reservation &amp; reminder messages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Saved trip history per user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Stripe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SlideTitle"/>
          <p:cNvSpPr txBox="1"/>
          <p:nvPr/>
        </p:nvSpPr>
        <p:spPr>
          <a:xfrm>
            <a:off x="548640" y="320040"/>
            <a:ext cx="10363200" cy="8229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B3D5C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itleAccent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5" name="PageNum"/>
          <p:cNvSpPr txBox="1"/>
          <p:nvPr/>
        </p:nvSpPr>
        <p:spPr>
          <a:xfrm>
            <a:off x="10728960" y="411480"/>
            <a:ext cx="1097280" cy="3657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100" b="1" dirty="0">
                <a:solidFill>
                  <a:srgbClr val="5A6B7A"/>
                </a:solidFill>
                <a:latin typeface="Calibri"/>
              </a:rPr>
              <a:t>06 / 16</a:t>
            </a:r>
          </a:p>
        </p:txBody>
      </p:sp>
      <p:sp>
        <p:nvSpPr>
          <p:cNvPr id="6" name="FooterStripe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7" name="FooterLabel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dirty="0">
                <a:solidFill>
                  <a:srgbClr val="5A6B7A"/>
                </a:solidFill>
                <a:latin typeface="Calibri"/>
              </a:rPr>
              <a:t>Trip Planner  |  Graduation Project</a:t>
            </a:r>
          </a:p>
        </p:txBody>
      </p:sp>
      <p:sp>
        <p:nvSpPr>
          <p:cNvPr id="8" name="Intro"/>
          <p:cNvSpPr txBox="1"/>
          <p:nvPr/>
        </p:nvSpPr>
        <p:spPr>
          <a:xfrm>
            <a:off x="548640" y="1325880"/>
            <a:ext cx="11094720" cy="6400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27B5B0"/>
                </a:solidFill>
                <a:latin typeface="Calibri"/>
              </a:rPr>
              <a:t>A clean three-tier architecture connecting users, services, and data.</a:t>
            </a:r>
          </a:p>
        </p:txBody>
      </p:sp>
      <p:sp>
        <p:nvSpPr>
          <p:cNvPr id="9" name="Panel"/>
          <p:cNvSpPr/>
          <p:nvPr/>
        </p:nvSpPr>
        <p:spPr>
          <a:xfrm>
            <a:off x="548640" y="2057400"/>
            <a:ext cx="11094720" cy="4023360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0" name="Bullets"/>
          <p:cNvSpPr txBox="1"/>
          <p:nvPr/>
        </p:nvSpPr>
        <p:spPr>
          <a:xfrm>
            <a:off x="914400" y="2240280"/>
            <a:ext cx="10363200" cy="36576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Presentation Layer  -  Responsive web frontend (HTML, CSS, JavaScript).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Application Layer  -  Node.js + Express.js REST API server.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Intelligence Layer  -  AI recommendation engine and ranking algorithm.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Integration Layer  -  Google Maps API, Google Places API, WhatsApp.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Data Layer  -  MongoDB for users, trips, preferences, and history.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Stripe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SlideTitle"/>
          <p:cNvSpPr txBox="1"/>
          <p:nvPr/>
        </p:nvSpPr>
        <p:spPr>
          <a:xfrm>
            <a:off x="548640" y="320040"/>
            <a:ext cx="10363200" cy="8229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B3D5C"/>
                </a:solidFill>
                <a:latin typeface="Calibri"/>
              </a:rPr>
              <a:t>Technologies Used</a:t>
            </a:r>
          </a:p>
        </p:txBody>
      </p:sp>
      <p:sp>
        <p:nvSpPr>
          <p:cNvPr id="4" name="TitleAccent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5" name="PageNum"/>
          <p:cNvSpPr txBox="1"/>
          <p:nvPr/>
        </p:nvSpPr>
        <p:spPr>
          <a:xfrm>
            <a:off x="10728960" y="411480"/>
            <a:ext cx="1097280" cy="3657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100" b="1" dirty="0">
                <a:solidFill>
                  <a:srgbClr val="5A6B7A"/>
                </a:solidFill>
                <a:latin typeface="Calibri"/>
              </a:rPr>
              <a:t>07 / 16</a:t>
            </a:r>
          </a:p>
        </p:txBody>
      </p:sp>
      <p:sp>
        <p:nvSpPr>
          <p:cNvPr id="6" name="FooterStripe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7" name="FooterLabel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dirty="0">
                <a:solidFill>
                  <a:srgbClr val="5A6B7A"/>
                </a:solidFill>
                <a:latin typeface="Calibri"/>
              </a:rPr>
              <a:t>Trip Planner  |  Graduation Project</a:t>
            </a:r>
          </a:p>
        </p:txBody>
      </p:sp>
      <p:sp>
        <p:nvSpPr>
          <p:cNvPr id="8" name="Card0"/>
          <p:cNvSpPr/>
          <p:nvPr/>
        </p:nvSpPr>
        <p:spPr>
          <a:xfrm>
            <a:off x="548640" y="1463040"/>
            <a:ext cx="3545840" cy="2263140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9" name="CardStrip0"/>
          <p:cNvSpPr/>
          <p:nvPr/>
        </p:nvSpPr>
        <p:spPr>
          <a:xfrm>
            <a:off x="548640" y="1463040"/>
            <a:ext cx="3545840" cy="109728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0" name="CardTitle0"/>
          <p:cNvSpPr txBox="1"/>
          <p:nvPr/>
        </p:nvSpPr>
        <p:spPr>
          <a:xfrm>
            <a:off x="777240" y="1691640"/>
            <a:ext cx="3088640" cy="4572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0B3D5C"/>
                </a:solidFill>
                <a:latin typeface="Calibri"/>
              </a:rPr>
              <a:t>Frontend</a:t>
            </a:r>
          </a:p>
        </p:txBody>
      </p:sp>
      <p:sp>
        <p:nvSpPr>
          <p:cNvPr id="11" name="CardItems0"/>
          <p:cNvSpPr txBox="1"/>
          <p:nvPr/>
        </p:nvSpPr>
        <p:spPr>
          <a:xfrm>
            <a:off x="868680" y="2240280"/>
            <a:ext cx="2997200" cy="134874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HTML5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CSS3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JavaScript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Responsive UI</a:t>
            </a:r>
          </a:p>
        </p:txBody>
      </p:sp>
      <p:sp>
        <p:nvSpPr>
          <p:cNvPr id="12" name="Card1"/>
          <p:cNvSpPr/>
          <p:nvPr/>
        </p:nvSpPr>
        <p:spPr>
          <a:xfrm>
            <a:off x="4323080" y="1463040"/>
            <a:ext cx="3545840" cy="2263140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3" name="CardStrip1"/>
          <p:cNvSpPr/>
          <p:nvPr/>
        </p:nvSpPr>
        <p:spPr>
          <a:xfrm>
            <a:off x="4323080" y="1463040"/>
            <a:ext cx="3545840" cy="109728"/>
          </a:xfrm>
          <a:prstGeom prst="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4" name="CardTitle1"/>
          <p:cNvSpPr txBox="1"/>
          <p:nvPr/>
        </p:nvSpPr>
        <p:spPr>
          <a:xfrm>
            <a:off x="4551680" y="1691640"/>
            <a:ext cx="3088640" cy="4572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0B3D5C"/>
                </a:solidFill>
                <a:latin typeface="Calibri"/>
              </a:rPr>
              <a:t>Backend</a:t>
            </a:r>
          </a:p>
        </p:txBody>
      </p:sp>
      <p:sp>
        <p:nvSpPr>
          <p:cNvPr id="15" name="CardItems1"/>
          <p:cNvSpPr txBox="1"/>
          <p:nvPr/>
        </p:nvSpPr>
        <p:spPr>
          <a:xfrm>
            <a:off x="4643120" y="2240280"/>
            <a:ext cx="2997200" cy="134874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Node.js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Express.js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REST API</a:t>
            </a:r>
          </a:p>
        </p:txBody>
      </p:sp>
      <p:sp>
        <p:nvSpPr>
          <p:cNvPr id="16" name="Card2"/>
          <p:cNvSpPr/>
          <p:nvPr/>
        </p:nvSpPr>
        <p:spPr>
          <a:xfrm>
            <a:off x="8097520" y="1463040"/>
            <a:ext cx="3545840" cy="2263140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7" name="CardStrip2"/>
          <p:cNvSpPr/>
          <p:nvPr/>
        </p:nvSpPr>
        <p:spPr>
          <a:xfrm>
            <a:off x="8097520" y="1463040"/>
            <a:ext cx="3545840" cy="109728"/>
          </a:xfrm>
          <a:prstGeom prst="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8" name="CardTitle2"/>
          <p:cNvSpPr txBox="1"/>
          <p:nvPr/>
        </p:nvSpPr>
        <p:spPr>
          <a:xfrm>
            <a:off x="8326120" y="1691640"/>
            <a:ext cx="3088640" cy="4572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0B3D5C"/>
                </a:solidFill>
                <a:latin typeface="Calibri"/>
              </a:rPr>
              <a:t>Database</a:t>
            </a:r>
          </a:p>
        </p:txBody>
      </p:sp>
      <p:sp>
        <p:nvSpPr>
          <p:cNvPr id="19" name="CardItems2"/>
          <p:cNvSpPr txBox="1"/>
          <p:nvPr/>
        </p:nvSpPr>
        <p:spPr>
          <a:xfrm>
            <a:off x="8417560" y="2240280"/>
            <a:ext cx="2997200" cy="134874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MongoDB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Mongoose ODM</a:t>
            </a:r>
          </a:p>
        </p:txBody>
      </p:sp>
      <p:sp>
        <p:nvSpPr>
          <p:cNvPr id="20" name="Card3"/>
          <p:cNvSpPr/>
          <p:nvPr/>
        </p:nvSpPr>
        <p:spPr>
          <a:xfrm>
            <a:off x="548640" y="3954780"/>
            <a:ext cx="3545840" cy="2263140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1" name="CardStrip3"/>
          <p:cNvSpPr/>
          <p:nvPr/>
        </p:nvSpPr>
        <p:spPr>
          <a:xfrm>
            <a:off x="548640" y="3954780"/>
            <a:ext cx="3545840" cy="109728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2" name="CardTitle3"/>
          <p:cNvSpPr txBox="1"/>
          <p:nvPr/>
        </p:nvSpPr>
        <p:spPr>
          <a:xfrm>
            <a:off x="777240" y="4183380"/>
            <a:ext cx="3088640" cy="4572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0B3D5C"/>
                </a:solidFill>
                <a:latin typeface="Calibri"/>
              </a:rPr>
              <a:t>APIs &amp; Services</a:t>
            </a:r>
          </a:p>
        </p:txBody>
      </p:sp>
      <p:sp>
        <p:nvSpPr>
          <p:cNvPr id="23" name="CardItems3"/>
          <p:cNvSpPr txBox="1"/>
          <p:nvPr/>
        </p:nvSpPr>
        <p:spPr>
          <a:xfrm>
            <a:off x="868680" y="4732020"/>
            <a:ext cx="2997200" cy="134874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Google Maps API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Google Places API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WhatsApp API</a:t>
            </a:r>
          </a:p>
        </p:txBody>
      </p:sp>
      <p:sp>
        <p:nvSpPr>
          <p:cNvPr id="24" name="Card4"/>
          <p:cNvSpPr/>
          <p:nvPr/>
        </p:nvSpPr>
        <p:spPr>
          <a:xfrm>
            <a:off x="4323080" y="3954780"/>
            <a:ext cx="3545840" cy="2263140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5" name="CardStrip4"/>
          <p:cNvSpPr/>
          <p:nvPr/>
        </p:nvSpPr>
        <p:spPr>
          <a:xfrm>
            <a:off x="4323080" y="3954780"/>
            <a:ext cx="3545840" cy="109728"/>
          </a:xfrm>
          <a:prstGeom prst="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6" name="CardTitle4"/>
          <p:cNvSpPr txBox="1"/>
          <p:nvPr/>
        </p:nvSpPr>
        <p:spPr>
          <a:xfrm>
            <a:off x="4551680" y="4183380"/>
            <a:ext cx="3088640" cy="4572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0B3D5C"/>
                </a:solidFill>
                <a:latin typeface="Calibri"/>
              </a:rPr>
              <a:t>Intelligence</a:t>
            </a:r>
          </a:p>
        </p:txBody>
      </p:sp>
      <p:sp>
        <p:nvSpPr>
          <p:cNvPr id="27" name="CardItems4"/>
          <p:cNvSpPr txBox="1"/>
          <p:nvPr/>
        </p:nvSpPr>
        <p:spPr>
          <a:xfrm>
            <a:off x="4643120" y="4732020"/>
            <a:ext cx="2997200" cy="134874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AI Recommendation Engine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Ranking Algorithm</a:t>
            </a:r>
          </a:p>
        </p:txBody>
      </p:sp>
      <p:sp>
        <p:nvSpPr>
          <p:cNvPr id="28" name="Card5"/>
          <p:cNvSpPr/>
          <p:nvPr/>
        </p:nvSpPr>
        <p:spPr>
          <a:xfrm>
            <a:off x="8097520" y="3954780"/>
            <a:ext cx="3545840" cy="2263140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9" name="CardStrip5"/>
          <p:cNvSpPr/>
          <p:nvPr/>
        </p:nvSpPr>
        <p:spPr>
          <a:xfrm>
            <a:off x="8097520" y="3954780"/>
            <a:ext cx="3545840" cy="109728"/>
          </a:xfrm>
          <a:prstGeom prst="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0" name="CardTitle5"/>
          <p:cNvSpPr txBox="1"/>
          <p:nvPr/>
        </p:nvSpPr>
        <p:spPr>
          <a:xfrm>
            <a:off x="8326120" y="4183380"/>
            <a:ext cx="3088640" cy="4572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0B3D5C"/>
                </a:solidFill>
                <a:latin typeface="Calibri"/>
              </a:rPr>
              <a:t>Tooling</a:t>
            </a:r>
          </a:p>
        </p:txBody>
      </p:sp>
      <p:sp>
        <p:nvSpPr>
          <p:cNvPr id="31" name="CardItems5"/>
          <p:cNvSpPr txBox="1"/>
          <p:nvPr/>
        </p:nvSpPr>
        <p:spPr>
          <a:xfrm>
            <a:off x="8417560" y="4732020"/>
            <a:ext cx="2997200" cy="134874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Git &amp; GitHub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VS Code</a:t>
            </a:r>
          </a:p>
          <a:p>
            <a:pPr algn="l" indent="-228600" marL="228600">
              <a:spcBef>
                <a:spcPts val="4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Postman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Stripe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SlideTitle"/>
          <p:cNvSpPr txBox="1"/>
          <p:nvPr/>
        </p:nvSpPr>
        <p:spPr>
          <a:xfrm>
            <a:off x="548640" y="320040"/>
            <a:ext cx="10363200" cy="8229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B3D5C"/>
                </a:solidFill>
                <a:latin typeface="Calibri"/>
              </a:rPr>
              <a:t>Google Maps &amp; Places Integration</a:t>
            </a:r>
          </a:p>
        </p:txBody>
      </p:sp>
      <p:sp>
        <p:nvSpPr>
          <p:cNvPr id="4" name="TitleAccent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5" name="PageNum"/>
          <p:cNvSpPr txBox="1"/>
          <p:nvPr/>
        </p:nvSpPr>
        <p:spPr>
          <a:xfrm>
            <a:off x="10728960" y="411480"/>
            <a:ext cx="1097280" cy="3657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100" b="1" dirty="0">
                <a:solidFill>
                  <a:srgbClr val="5A6B7A"/>
                </a:solidFill>
                <a:latin typeface="Calibri"/>
              </a:rPr>
              <a:t>08 / 16</a:t>
            </a:r>
          </a:p>
        </p:txBody>
      </p:sp>
      <p:sp>
        <p:nvSpPr>
          <p:cNvPr id="6" name="FooterStripe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7" name="FooterLabel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dirty="0">
                <a:solidFill>
                  <a:srgbClr val="5A6B7A"/>
                </a:solidFill>
                <a:latin typeface="Calibri"/>
              </a:rPr>
              <a:t>Trip Planner  |  Graduation Project</a:t>
            </a:r>
          </a:p>
        </p:txBody>
      </p:sp>
      <p:sp>
        <p:nvSpPr>
          <p:cNvPr id="8" name="Intro"/>
          <p:cNvSpPr txBox="1"/>
          <p:nvPr/>
        </p:nvSpPr>
        <p:spPr>
          <a:xfrm>
            <a:off x="548640" y="1325880"/>
            <a:ext cx="11094720" cy="6400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27B5B0"/>
                </a:solidFill>
                <a:latin typeface="Calibri"/>
              </a:rPr>
              <a:t>Real-world location intelligence at the heart of every recommendation.</a:t>
            </a:r>
          </a:p>
        </p:txBody>
      </p:sp>
      <p:sp>
        <p:nvSpPr>
          <p:cNvPr id="9" name="Panel"/>
          <p:cNvSpPr/>
          <p:nvPr/>
        </p:nvSpPr>
        <p:spPr>
          <a:xfrm>
            <a:off x="548640" y="2057400"/>
            <a:ext cx="11094720" cy="4023360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0" name="Bullets"/>
          <p:cNvSpPr txBox="1"/>
          <p:nvPr/>
        </p:nvSpPr>
        <p:spPr>
          <a:xfrm>
            <a:off x="914400" y="2240280"/>
            <a:ext cx="10363200" cy="36576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Google Places API supplies attractions, restaurants, cafes, and ratings.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Google Maps API renders an interactive map with custom markers.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Distance Matrix API calculates travel time between every two stops.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Photos, opening hours, and reviews enrich each recommended place.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Geocoding converts user destinations into precise coordinates.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Stripe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SlideTitle"/>
          <p:cNvSpPr txBox="1"/>
          <p:nvPr/>
        </p:nvSpPr>
        <p:spPr>
          <a:xfrm>
            <a:off x="548640" y="320040"/>
            <a:ext cx="10363200" cy="8229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B3D5C"/>
                </a:solidFill>
                <a:latin typeface="Calibri"/>
              </a:rPr>
              <a:t>Place Ranking Algorithm</a:t>
            </a:r>
          </a:p>
        </p:txBody>
      </p:sp>
      <p:sp>
        <p:nvSpPr>
          <p:cNvPr id="4" name="TitleAccent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5" name="PageNum"/>
          <p:cNvSpPr txBox="1"/>
          <p:nvPr/>
        </p:nvSpPr>
        <p:spPr>
          <a:xfrm>
            <a:off x="10728960" y="411480"/>
            <a:ext cx="1097280" cy="3657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100" b="1" dirty="0">
                <a:solidFill>
                  <a:srgbClr val="5A6B7A"/>
                </a:solidFill>
                <a:latin typeface="Calibri"/>
              </a:rPr>
              <a:t>09 / 16</a:t>
            </a:r>
          </a:p>
        </p:txBody>
      </p:sp>
      <p:sp>
        <p:nvSpPr>
          <p:cNvPr id="6" name="FooterStripe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7" name="FooterLabel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dirty="0">
                <a:solidFill>
                  <a:srgbClr val="5A6B7A"/>
                </a:solidFill>
                <a:latin typeface="Calibri"/>
              </a:rPr>
              <a:t>Trip Planner  |  Graduation Project</a:t>
            </a:r>
          </a:p>
        </p:txBody>
      </p:sp>
      <p:sp>
        <p:nvSpPr>
          <p:cNvPr id="8" name="Intro"/>
          <p:cNvSpPr txBox="1"/>
          <p:nvPr/>
        </p:nvSpPr>
        <p:spPr>
          <a:xfrm>
            <a:off x="548640" y="1325880"/>
            <a:ext cx="11094720" cy="6400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27B5B0"/>
                </a:solidFill>
                <a:latin typeface="Calibri"/>
              </a:rPr>
              <a:t>A weighted scoring model that orders places by real user fit.</a:t>
            </a:r>
          </a:p>
        </p:txBody>
      </p:sp>
      <p:sp>
        <p:nvSpPr>
          <p:cNvPr id="9" name="Panel"/>
          <p:cNvSpPr/>
          <p:nvPr/>
        </p:nvSpPr>
        <p:spPr>
          <a:xfrm>
            <a:off x="548640" y="2057400"/>
            <a:ext cx="11094720" cy="4023360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0" name="Bullets"/>
          <p:cNvSpPr txBox="1"/>
          <p:nvPr/>
        </p:nvSpPr>
        <p:spPr>
          <a:xfrm>
            <a:off x="914400" y="2240280"/>
            <a:ext cx="10363200" cy="36576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Inputs: budget level, trip type, traveler count, and place metadata.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Each candidate place receives scores for relevance, rating, distance, and price.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Weights adjust dynamically based on the chosen trip type.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Top-ranked places are slotted into the daily itinerary by proximity.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Lower-ranked items are kept as budget-aware alternative suggestions.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Stripe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SlideTitle"/>
          <p:cNvSpPr txBox="1"/>
          <p:nvPr/>
        </p:nvSpPr>
        <p:spPr>
          <a:xfrm>
            <a:off x="548640" y="320040"/>
            <a:ext cx="10363200" cy="8229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B3D5C"/>
                </a:solidFill>
                <a:latin typeface="Calibri"/>
              </a:rPr>
              <a:t>AI Recommendation Engine</a:t>
            </a:r>
          </a:p>
        </p:txBody>
      </p:sp>
      <p:sp>
        <p:nvSpPr>
          <p:cNvPr id="4" name="TitleAccent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5" name="PageNum"/>
          <p:cNvSpPr txBox="1"/>
          <p:nvPr/>
        </p:nvSpPr>
        <p:spPr>
          <a:xfrm>
            <a:off x="10728960" y="411480"/>
            <a:ext cx="1097280" cy="3657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100" b="1" dirty="0">
                <a:solidFill>
                  <a:srgbClr val="5A6B7A"/>
                </a:solidFill>
                <a:latin typeface="Calibri"/>
              </a:rPr>
              <a:t>10 / 16</a:t>
            </a:r>
          </a:p>
        </p:txBody>
      </p:sp>
      <p:sp>
        <p:nvSpPr>
          <p:cNvPr id="6" name="FooterStripe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7" name="FooterLabel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dirty="0">
                <a:solidFill>
                  <a:srgbClr val="5A6B7A"/>
                </a:solidFill>
                <a:latin typeface="Calibri"/>
              </a:rPr>
              <a:t>Trip Planner  |  Graduation Project</a:t>
            </a:r>
          </a:p>
        </p:txBody>
      </p:sp>
      <p:sp>
        <p:nvSpPr>
          <p:cNvPr id="8" name="Intro"/>
          <p:cNvSpPr txBox="1"/>
          <p:nvPr/>
        </p:nvSpPr>
        <p:spPr>
          <a:xfrm>
            <a:off x="548640" y="1325880"/>
            <a:ext cx="11094720" cy="6400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27B5B0"/>
                </a:solidFill>
                <a:latin typeface="Calibri"/>
              </a:rPr>
              <a:t>An intelligent layer that personalizes every itinerary.</a:t>
            </a:r>
          </a:p>
        </p:txBody>
      </p:sp>
      <p:sp>
        <p:nvSpPr>
          <p:cNvPr id="9" name="Panel"/>
          <p:cNvSpPr/>
          <p:nvPr/>
        </p:nvSpPr>
        <p:spPr>
          <a:xfrm>
            <a:off x="548640" y="2057400"/>
            <a:ext cx="11094720" cy="4023360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0" name="Bullets"/>
          <p:cNvSpPr txBox="1"/>
          <p:nvPr/>
        </p:nvSpPr>
        <p:spPr>
          <a:xfrm>
            <a:off x="914400" y="2240280"/>
            <a:ext cx="10363200" cy="36576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Learns from user preferences, trip type, and historical trips.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Generates context-aware suggestions for places, food, and activities.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Balances variety, distance, and budget across each day.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Produces natural-language descriptions for every recommended stop.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Continuously refines results as more user data is collected.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Stripe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SlideTitle"/>
          <p:cNvSpPr txBox="1"/>
          <p:nvPr/>
        </p:nvSpPr>
        <p:spPr>
          <a:xfrm>
            <a:off x="548640" y="320040"/>
            <a:ext cx="10363200" cy="8229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B3D5C"/>
                </a:solidFill>
                <a:latin typeface="Calibri"/>
              </a:rPr>
              <a:t>WhatsApp Integration</a:t>
            </a:r>
          </a:p>
        </p:txBody>
      </p:sp>
      <p:sp>
        <p:nvSpPr>
          <p:cNvPr id="4" name="TitleAccent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5" name="PageNum"/>
          <p:cNvSpPr txBox="1"/>
          <p:nvPr/>
        </p:nvSpPr>
        <p:spPr>
          <a:xfrm>
            <a:off x="10728960" y="411480"/>
            <a:ext cx="1097280" cy="3657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100" b="1" dirty="0">
                <a:solidFill>
                  <a:srgbClr val="5A6B7A"/>
                </a:solidFill>
                <a:latin typeface="Calibri"/>
              </a:rPr>
              <a:t>11 / 16</a:t>
            </a:r>
          </a:p>
        </p:txBody>
      </p:sp>
      <p:sp>
        <p:nvSpPr>
          <p:cNvPr id="6" name="FooterStripe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7" name="FooterLabel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dirty="0">
                <a:solidFill>
                  <a:srgbClr val="5A6B7A"/>
                </a:solidFill>
                <a:latin typeface="Calibri"/>
              </a:rPr>
              <a:t>Trip Planner  |  Graduation Project</a:t>
            </a:r>
          </a:p>
        </p:txBody>
      </p:sp>
      <p:sp>
        <p:nvSpPr>
          <p:cNvPr id="8" name="Intro"/>
          <p:cNvSpPr txBox="1"/>
          <p:nvPr/>
        </p:nvSpPr>
        <p:spPr>
          <a:xfrm>
            <a:off x="548640" y="1325880"/>
            <a:ext cx="11094720" cy="6400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27B5B0"/>
                </a:solidFill>
                <a:latin typeface="Calibri"/>
              </a:rPr>
              <a:t>Bringing the trip directly into the user's most-used messaging app.</a:t>
            </a:r>
          </a:p>
        </p:txBody>
      </p:sp>
      <p:sp>
        <p:nvSpPr>
          <p:cNvPr id="9" name="Panel"/>
          <p:cNvSpPr/>
          <p:nvPr/>
        </p:nvSpPr>
        <p:spPr>
          <a:xfrm>
            <a:off x="548640" y="2057400"/>
            <a:ext cx="11094720" cy="4023360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0" name="Bullets"/>
          <p:cNvSpPr txBox="1"/>
          <p:nvPr/>
        </p:nvSpPr>
        <p:spPr>
          <a:xfrm>
            <a:off x="914400" y="2240280"/>
            <a:ext cx="10363200" cy="36576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Send reservation requests to restaurants and venues with one tap.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Receive automated trip reminders before each scheduled activity.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Share the full itinerary instantly with family or travel companions.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Confirm bookings and updates through familiar WhatsApp chat flow.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Reduces friction between planning and real-world 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Stripe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SlideTitle"/>
          <p:cNvSpPr txBox="1"/>
          <p:nvPr/>
        </p:nvSpPr>
        <p:spPr>
          <a:xfrm>
            <a:off x="548640" y="320040"/>
            <a:ext cx="10363200" cy="8229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B3D5C"/>
                </a:solidFill>
                <a:latin typeface="Calibri"/>
              </a:rPr>
              <a:t>Database Structure (MongoDB)</a:t>
            </a:r>
          </a:p>
        </p:txBody>
      </p:sp>
      <p:sp>
        <p:nvSpPr>
          <p:cNvPr id="4" name="TitleAccent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5" name="PageNum"/>
          <p:cNvSpPr txBox="1"/>
          <p:nvPr/>
        </p:nvSpPr>
        <p:spPr>
          <a:xfrm>
            <a:off x="10728960" y="411480"/>
            <a:ext cx="1097280" cy="3657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100" b="1" dirty="0">
                <a:solidFill>
                  <a:srgbClr val="5A6B7A"/>
                </a:solidFill>
                <a:latin typeface="Calibri"/>
              </a:rPr>
              <a:t>12 / 16</a:t>
            </a:r>
          </a:p>
        </p:txBody>
      </p:sp>
      <p:sp>
        <p:nvSpPr>
          <p:cNvPr id="6" name="FooterStripe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7" name="FooterLabel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dirty="0">
                <a:solidFill>
                  <a:srgbClr val="5A6B7A"/>
                </a:solidFill>
                <a:latin typeface="Calibri"/>
              </a:rPr>
              <a:t>Trip Planner  |  Graduation Project</a:t>
            </a:r>
          </a:p>
        </p:txBody>
      </p:sp>
      <p:sp>
        <p:nvSpPr>
          <p:cNvPr id="8" name="LeftPanel"/>
          <p:cNvSpPr/>
          <p:nvPr/>
        </p:nvSpPr>
        <p:spPr>
          <a:xfrm>
            <a:off x="548640" y="1554480"/>
            <a:ext cx="5273040" cy="4206240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9" name="LeftHeader"/>
          <p:cNvSpPr/>
          <p:nvPr/>
        </p:nvSpPr>
        <p:spPr>
          <a:xfrm>
            <a:off x="548640" y="1554480"/>
            <a:ext cx="5273040" cy="548640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0" name="LeftHeaderText"/>
          <p:cNvSpPr txBox="1"/>
          <p:nvPr/>
        </p:nvSpPr>
        <p:spPr>
          <a:xfrm>
            <a:off x="777240" y="1618488"/>
            <a:ext cx="4815840" cy="45720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800" b="1" dirty="0">
                <a:solidFill>
                  <a:srgbClr val="FFFFFF"/>
                </a:solidFill>
                <a:latin typeface="Calibri"/>
              </a:rPr>
              <a:t>Core Collections</a:t>
            </a:r>
          </a:p>
        </p:txBody>
      </p:sp>
      <p:sp>
        <p:nvSpPr>
          <p:cNvPr id="11" name="LeftItems"/>
          <p:cNvSpPr txBox="1"/>
          <p:nvPr/>
        </p:nvSpPr>
        <p:spPr>
          <a:xfrm>
            <a:off x="868680" y="2331720"/>
            <a:ext cx="4815840" cy="329184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Users  -  profile, credentials, contact info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Preferences  -  trip type, budget, interests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Trips  -  destination, duration, travelers, status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Itineraries  -  day-by-day plan with places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Places  -  cached Google Places data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Reservations  -  WhatsApp request records</a:t>
            </a:r>
          </a:p>
        </p:txBody>
      </p:sp>
      <p:sp>
        <p:nvSpPr>
          <p:cNvPr id="12" name="RightPanel"/>
          <p:cNvSpPr/>
          <p:nvPr/>
        </p:nvSpPr>
        <p:spPr>
          <a:xfrm>
            <a:off x="6370320" y="1554480"/>
            <a:ext cx="5273040" cy="4206240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3" name="RightHeader"/>
          <p:cNvSpPr/>
          <p:nvPr/>
        </p:nvSpPr>
        <p:spPr>
          <a:xfrm>
            <a:off x="6370320" y="1554480"/>
            <a:ext cx="5273040" cy="548640"/>
          </a:xfrm>
          <a:prstGeom prst="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4" name="RightHeaderText"/>
          <p:cNvSpPr txBox="1"/>
          <p:nvPr/>
        </p:nvSpPr>
        <p:spPr>
          <a:xfrm>
            <a:off x="6598920" y="1618488"/>
            <a:ext cx="4815840" cy="45720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800" b="1" dirty="0">
                <a:solidFill>
                  <a:srgbClr val="FFFFFF"/>
                </a:solidFill>
                <a:latin typeface="Calibri"/>
              </a:rPr>
              <a:t>Key Relationships</a:t>
            </a:r>
          </a:p>
        </p:txBody>
      </p:sp>
      <p:sp>
        <p:nvSpPr>
          <p:cNvPr id="15" name="RightItems"/>
          <p:cNvSpPr txBox="1"/>
          <p:nvPr/>
        </p:nvSpPr>
        <p:spPr>
          <a:xfrm>
            <a:off x="6690360" y="2331720"/>
            <a:ext cx="4815840" cy="329184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One user has many trips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Each trip has one itinerary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Each itinerary contains many places per day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Preferences feed the AI ranking engine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Reservations link users to specific places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/>
              </a:rPr>
              <a:t>History enables smarter future 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Stripe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SlideTitle"/>
          <p:cNvSpPr txBox="1"/>
          <p:nvPr/>
        </p:nvSpPr>
        <p:spPr>
          <a:xfrm>
            <a:off x="548640" y="320040"/>
            <a:ext cx="10363200" cy="8229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B3D5C"/>
                </a:solidFill>
                <a:latin typeface="Calibri"/>
              </a:rPr>
              <a:t>Sample User Flow</a:t>
            </a:r>
          </a:p>
        </p:txBody>
      </p:sp>
      <p:sp>
        <p:nvSpPr>
          <p:cNvPr id="4" name="TitleAccent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5" name="PageNum"/>
          <p:cNvSpPr txBox="1"/>
          <p:nvPr/>
        </p:nvSpPr>
        <p:spPr>
          <a:xfrm>
            <a:off x="10728960" y="411480"/>
            <a:ext cx="1097280" cy="3657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100" b="1" dirty="0">
                <a:solidFill>
                  <a:srgbClr val="5A6B7A"/>
                </a:solidFill>
                <a:latin typeface="Calibri"/>
              </a:rPr>
              <a:t>13 / 16</a:t>
            </a:r>
          </a:p>
        </p:txBody>
      </p:sp>
      <p:sp>
        <p:nvSpPr>
          <p:cNvPr id="6" name="FooterStripe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7" name="FooterLabel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dirty="0">
                <a:solidFill>
                  <a:srgbClr val="5A6B7A"/>
                </a:solidFill>
                <a:latin typeface="Calibri"/>
              </a:rPr>
              <a:t>Trip Planner  |  Graduation Project</a:t>
            </a:r>
          </a:p>
        </p:txBody>
      </p:sp>
      <p:sp>
        <p:nvSpPr>
          <p:cNvPr id="8" name="Step00"/>
          <p:cNvSpPr/>
          <p:nvPr/>
        </p:nvSpPr>
        <p:spPr>
          <a:xfrm>
            <a:off x="548640" y="2834640"/>
            <a:ext cx="3241040" cy="1005840"/>
          </a:xfrm>
          <a:prstGeom prst="round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9" name="StepNum00"/>
          <p:cNvSpPr txBox="1"/>
          <p:nvPr/>
        </p:nvSpPr>
        <p:spPr>
          <a:xfrm>
            <a:off x="731520" y="2926080"/>
            <a:ext cx="54864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StepLabel00"/>
          <p:cNvSpPr txBox="1"/>
          <p:nvPr/>
        </p:nvSpPr>
        <p:spPr>
          <a:xfrm>
            <a:off x="548640" y="3154680"/>
            <a:ext cx="3241040" cy="64008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Sign In</a:t>
            </a:r>
          </a:p>
        </p:txBody>
      </p:sp>
      <p:sp>
        <p:nvSpPr>
          <p:cNvPr id="11" name="Arrow00"/>
          <p:cNvSpPr/>
          <p:nvPr/>
        </p:nvSpPr>
        <p:spPr>
          <a:xfrm>
            <a:off x="3789680" y="3246120"/>
            <a:ext cx="320040" cy="182880"/>
          </a:xfrm>
          <a:prstGeom prst="rightArrow">
            <a:avLst/>
          </a:prstGeom>
          <a:solidFill>
            <a:srgbClr val="5A6B7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2" name="Step01"/>
          <p:cNvSpPr/>
          <p:nvPr/>
        </p:nvSpPr>
        <p:spPr>
          <a:xfrm>
            <a:off x="4475480" y="2834640"/>
            <a:ext cx="3241040" cy="1005840"/>
          </a:xfrm>
          <a:prstGeom prst="round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3" name="StepNum01"/>
          <p:cNvSpPr txBox="1"/>
          <p:nvPr/>
        </p:nvSpPr>
        <p:spPr>
          <a:xfrm>
            <a:off x="4658360" y="2926080"/>
            <a:ext cx="54864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StepLabel01"/>
          <p:cNvSpPr txBox="1"/>
          <p:nvPr/>
        </p:nvSpPr>
        <p:spPr>
          <a:xfrm>
            <a:off x="4475480" y="3154680"/>
            <a:ext cx="3241040" cy="64008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Enter Trip Details</a:t>
            </a:r>
          </a:p>
        </p:txBody>
      </p:sp>
      <p:sp>
        <p:nvSpPr>
          <p:cNvPr id="15" name="Arrow01"/>
          <p:cNvSpPr/>
          <p:nvPr/>
        </p:nvSpPr>
        <p:spPr>
          <a:xfrm>
            <a:off x="7716520" y="3246120"/>
            <a:ext cx="320040" cy="182880"/>
          </a:xfrm>
          <a:prstGeom prst="rightArrow">
            <a:avLst/>
          </a:prstGeom>
          <a:solidFill>
            <a:srgbClr val="5A6B7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6" name="Step02"/>
          <p:cNvSpPr/>
          <p:nvPr/>
        </p:nvSpPr>
        <p:spPr>
          <a:xfrm>
            <a:off x="8402320" y="2834640"/>
            <a:ext cx="3241040" cy="1005840"/>
          </a:xfrm>
          <a:prstGeom prst="round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7" name="StepNum02"/>
          <p:cNvSpPr txBox="1"/>
          <p:nvPr/>
        </p:nvSpPr>
        <p:spPr>
          <a:xfrm>
            <a:off x="8585200" y="2926080"/>
            <a:ext cx="54864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StepLabel02"/>
          <p:cNvSpPr txBox="1"/>
          <p:nvPr/>
        </p:nvSpPr>
        <p:spPr>
          <a:xfrm>
            <a:off x="8402320" y="3154680"/>
            <a:ext cx="3241040" cy="64008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AI Generates Itinerary</a:t>
            </a:r>
          </a:p>
        </p:txBody>
      </p:sp>
      <p:sp>
        <p:nvSpPr>
          <p:cNvPr id="19" name="Step10"/>
          <p:cNvSpPr/>
          <p:nvPr/>
        </p:nvSpPr>
        <p:spPr>
          <a:xfrm>
            <a:off x="548640" y="4389120"/>
            <a:ext cx="3241040" cy="1005840"/>
          </a:xfrm>
          <a:prstGeom prst="round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0" name="StepNum10"/>
          <p:cNvSpPr txBox="1"/>
          <p:nvPr/>
        </p:nvSpPr>
        <p:spPr>
          <a:xfrm>
            <a:off x="731520" y="4480560"/>
            <a:ext cx="54864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StepLabel10"/>
          <p:cNvSpPr txBox="1"/>
          <p:nvPr/>
        </p:nvSpPr>
        <p:spPr>
          <a:xfrm>
            <a:off x="548640" y="4709160"/>
            <a:ext cx="3241040" cy="64008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Review on Interactive Map</a:t>
            </a:r>
          </a:p>
        </p:txBody>
      </p:sp>
      <p:sp>
        <p:nvSpPr>
          <p:cNvPr id="22" name="Arrow10"/>
          <p:cNvSpPr/>
          <p:nvPr/>
        </p:nvSpPr>
        <p:spPr>
          <a:xfrm>
            <a:off x="3789680" y="4800600"/>
            <a:ext cx="320040" cy="182880"/>
          </a:xfrm>
          <a:prstGeom prst="rightArrow">
            <a:avLst/>
          </a:prstGeom>
          <a:solidFill>
            <a:srgbClr val="5A6B7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3" name="Step11"/>
          <p:cNvSpPr/>
          <p:nvPr/>
        </p:nvSpPr>
        <p:spPr>
          <a:xfrm>
            <a:off x="4475480" y="4389120"/>
            <a:ext cx="3241040" cy="1005840"/>
          </a:xfrm>
          <a:prstGeom prst="round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4" name="StepNum11"/>
          <p:cNvSpPr txBox="1"/>
          <p:nvPr/>
        </p:nvSpPr>
        <p:spPr>
          <a:xfrm>
            <a:off x="4658360" y="4480560"/>
            <a:ext cx="54864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StepLabel11"/>
          <p:cNvSpPr txBox="1"/>
          <p:nvPr/>
        </p:nvSpPr>
        <p:spPr>
          <a:xfrm>
            <a:off x="4475480" y="4709160"/>
            <a:ext cx="3241040" cy="64008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Reserve via WhatsApp</a:t>
            </a:r>
          </a:p>
        </p:txBody>
      </p:sp>
      <p:sp>
        <p:nvSpPr>
          <p:cNvPr id="26" name="Arrow11"/>
          <p:cNvSpPr/>
          <p:nvPr/>
        </p:nvSpPr>
        <p:spPr>
          <a:xfrm>
            <a:off x="7716520" y="4800600"/>
            <a:ext cx="320040" cy="182880"/>
          </a:xfrm>
          <a:prstGeom prst="rightArrow">
            <a:avLst/>
          </a:prstGeom>
          <a:solidFill>
            <a:srgbClr val="5A6B7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7" name="Step12"/>
          <p:cNvSpPr/>
          <p:nvPr/>
        </p:nvSpPr>
        <p:spPr>
          <a:xfrm>
            <a:off x="8402320" y="4389120"/>
            <a:ext cx="3241040" cy="1005840"/>
          </a:xfrm>
          <a:prstGeom prst="round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8" name="StepNum12"/>
          <p:cNvSpPr txBox="1"/>
          <p:nvPr/>
        </p:nvSpPr>
        <p:spPr>
          <a:xfrm>
            <a:off x="8585200" y="4480560"/>
            <a:ext cx="54864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9" name="StepLabel12"/>
          <p:cNvSpPr txBox="1"/>
          <p:nvPr/>
        </p:nvSpPr>
        <p:spPr>
          <a:xfrm>
            <a:off x="8402320" y="4709160"/>
            <a:ext cx="3241040" cy="64008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Save &amp; Share Trip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Stripe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SlideTitle"/>
          <p:cNvSpPr txBox="1"/>
          <p:nvPr/>
        </p:nvSpPr>
        <p:spPr>
          <a:xfrm>
            <a:off x="548640" y="320040"/>
            <a:ext cx="10363200" cy="8229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B3D5C"/>
                </a:solidFill>
                <a:latin typeface="Calibri"/>
              </a:rPr>
              <a:t>Example Generated Itinerary</a:t>
            </a:r>
          </a:p>
        </p:txBody>
      </p:sp>
      <p:sp>
        <p:nvSpPr>
          <p:cNvPr id="4" name="TitleAccent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5" name="PageNum"/>
          <p:cNvSpPr txBox="1"/>
          <p:nvPr/>
        </p:nvSpPr>
        <p:spPr>
          <a:xfrm>
            <a:off x="10728960" y="411480"/>
            <a:ext cx="1097280" cy="3657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100" b="1" dirty="0">
                <a:solidFill>
                  <a:srgbClr val="5A6B7A"/>
                </a:solidFill>
                <a:latin typeface="Calibri"/>
              </a:rPr>
              <a:t>14 / 16</a:t>
            </a:r>
          </a:p>
        </p:txBody>
      </p:sp>
      <p:sp>
        <p:nvSpPr>
          <p:cNvPr id="6" name="FooterStripe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7" name="FooterLabel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dirty="0">
                <a:solidFill>
                  <a:srgbClr val="5A6B7A"/>
                </a:solidFill>
                <a:latin typeface="Calibri"/>
              </a:rPr>
              <a:t>Trip Planner  |  Graduation Project</a:t>
            </a:r>
          </a:p>
        </p:txBody>
      </p:sp>
      <p:sp>
        <p:nvSpPr>
          <p:cNvPr id="8" name="Sub"/>
          <p:cNvSpPr txBox="1"/>
          <p:nvPr/>
        </p:nvSpPr>
        <p:spPr>
          <a:xfrm>
            <a:off x="548640" y="1325880"/>
            <a:ext cx="11094720" cy="4572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27B5B0"/>
                </a:solidFill>
                <a:latin typeface="Calibri"/>
              </a:rPr>
              <a:t>Destination: Istanbul   |   Duration: 3 Days   |   Budget: Medium   |   Type: Cultural</a:t>
            </a:r>
          </a:p>
        </p:txBody>
      </p:sp>
      <p:sp>
        <p:nvSpPr>
          <p:cNvPr id="9" name="DayCard0"/>
          <p:cNvSpPr/>
          <p:nvPr/>
        </p:nvSpPr>
        <p:spPr>
          <a:xfrm>
            <a:off x="548640" y="1874519"/>
            <a:ext cx="3515360" cy="4343401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0" name="DayHead0"/>
          <p:cNvSpPr/>
          <p:nvPr/>
        </p:nvSpPr>
        <p:spPr>
          <a:xfrm>
            <a:off x="548640" y="1874519"/>
            <a:ext cx="3515360" cy="640080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1" name="DayTitle0"/>
          <p:cNvSpPr txBox="1"/>
          <p:nvPr/>
        </p:nvSpPr>
        <p:spPr>
          <a:xfrm>
            <a:off x="777240" y="1993391"/>
            <a:ext cx="3058160" cy="5029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Day 1  -  Historic Heart</a:t>
            </a:r>
          </a:p>
        </p:txBody>
      </p:sp>
      <p:sp>
        <p:nvSpPr>
          <p:cNvPr id="12" name="DayItems0"/>
          <p:cNvSpPr txBox="1"/>
          <p:nvPr/>
        </p:nvSpPr>
        <p:spPr>
          <a:xfrm>
            <a:off x="822960" y="2743199"/>
            <a:ext cx="2966720" cy="3337561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Hagia Sophia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Blue Mosque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Lunch at Sultanahmet Koftecisi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Topkapi Palace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Sunset at Galata Bridge</a:t>
            </a:r>
          </a:p>
        </p:txBody>
      </p:sp>
      <p:sp>
        <p:nvSpPr>
          <p:cNvPr id="13" name="DayCard1"/>
          <p:cNvSpPr/>
          <p:nvPr/>
        </p:nvSpPr>
        <p:spPr>
          <a:xfrm>
            <a:off x="4338320" y="1874519"/>
            <a:ext cx="3515360" cy="4343401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4" name="DayHead1"/>
          <p:cNvSpPr/>
          <p:nvPr/>
        </p:nvSpPr>
        <p:spPr>
          <a:xfrm>
            <a:off x="4338320" y="1874519"/>
            <a:ext cx="3515360" cy="640080"/>
          </a:xfrm>
          <a:prstGeom prst="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5" name="DayTitle1"/>
          <p:cNvSpPr txBox="1"/>
          <p:nvPr/>
        </p:nvSpPr>
        <p:spPr>
          <a:xfrm>
            <a:off x="4566920" y="1993391"/>
            <a:ext cx="3058160" cy="5029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Day 2  -  Bazaars &amp; Bosphorus</a:t>
            </a:r>
          </a:p>
        </p:txBody>
      </p:sp>
      <p:sp>
        <p:nvSpPr>
          <p:cNvPr id="16" name="DayItems1"/>
          <p:cNvSpPr txBox="1"/>
          <p:nvPr/>
        </p:nvSpPr>
        <p:spPr>
          <a:xfrm>
            <a:off x="4612640" y="2743199"/>
            <a:ext cx="2966720" cy="3337561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Grand Bazaar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Spice Bazaar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Bosphorus Cruise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Dinner in Karakoy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Coffee at a rooftop cafe</a:t>
            </a:r>
          </a:p>
        </p:txBody>
      </p:sp>
      <p:sp>
        <p:nvSpPr>
          <p:cNvPr id="17" name="DayCard2"/>
          <p:cNvSpPr/>
          <p:nvPr/>
        </p:nvSpPr>
        <p:spPr>
          <a:xfrm>
            <a:off x="8128000" y="1874519"/>
            <a:ext cx="3515360" cy="4343401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8" name="DayHead2"/>
          <p:cNvSpPr/>
          <p:nvPr/>
        </p:nvSpPr>
        <p:spPr>
          <a:xfrm>
            <a:off x="8128000" y="1874519"/>
            <a:ext cx="3515360" cy="640080"/>
          </a:xfrm>
          <a:prstGeom prst="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9" name="DayTitle2"/>
          <p:cNvSpPr txBox="1"/>
          <p:nvPr/>
        </p:nvSpPr>
        <p:spPr>
          <a:xfrm>
            <a:off x="8356600" y="1993391"/>
            <a:ext cx="3058160" cy="5029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Day 3  -  Modern Istanbul</a:t>
            </a:r>
          </a:p>
        </p:txBody>
      </p:sp>
      <p:sp>
        <p:nvSpPr>
          <p:cNvPr id="20" name="DayItems2"/>
          <p:cNvSpPr txBox="1"/>
          <p:nvPr/>
        </p:nvSpPr>
        <p:spPr>
          <a:xfrm>
            <a:off x="8402320" y="2743199"/>
            <a:ext cx="2966720" cy="3337561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Dolmabahce Palace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Istiklal Street walk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Lunch in Taksim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Galata Tower view</a:t>
            </a:r>
          </a:p>
          <a:p>
            <a:pPr algn="l" indent="-228600" marL="228600">
              <a:spcBef>
                <a:spcPts val="500"/>
              </a:spcBef>
              <a:buFont typeface="Arial"/>
              <a:buChar char="•"/>
            </a:pPr>
            <a:r>
              <a:rPr lang="en-US" sz="1300" dirty="0">
                <a:solidFill>
                  <a:srgbClr val="1A2A38"/>
                </a:solidFill>
                <a:latin typeface="Calibri"/>
              </a:rPr>
              <a:t>Farewell dinner by the sea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Stripe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SlideTitle"/>
          <p:cNvSpPr txBox="1"/>
          <p:nvPr/>
        </p:nvSpPr>
        <p:spPr>
          <a:xfrm>
            <a:off x="548640" y="320040"/>
            <a:ext cx="10363200" cy="8229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B3D5C"/>
                </a:solidFill>
                <a:latin typeface="Calibri"/>
              </a:rPr>
              <a:t>Future Scalability</a:t>
            </a:r>
          </a:p>
        </p:txBody>
      </p:sp>
      <p:sp>
        <p:nvSpPr>
          <p:cNvPr id="4" name="TitleAccent"/>
          <p:cNvSpPr/>
          <p:nvPr/>
        </p:nvSpPr>
        <p:spPr>
          <a:xfrm>
            <a:off x="548640" y="1051560"/>
            <a:ext cx="822960" cy="54864"/>
          </a:xfrm>
          <a:prstGeom prst="rect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5" name="PageNum"/>
          <p:cNvSpPr txBox="1"/>
          <p:nvPr/>
        </p:nvSpPr>
        <p:spPr>
          <a:xfrm>
            <a:off x="10728960" y="411480"/>
            <a:ext cx="1097280" cy="3657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100" b="1" dirty="0">
                <a:solidFill>
                  <a:srgbClr val="5A6B7A"/>
                </a:solidFill>
                <a:latin typeface="Calibri"/>
              </a:rPr>
              <a:t>15 / 16</a:t>
            </a:r>
          </a:p>
        </p:txBody>
      </p:sp>
      <p:sp>
        <p:nvSpPr>
          <p:cNvPr id="6" name="FooterStripe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7" name="FooterLabel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dirty="0">
                <a:solidFill>
                  <a:srgbClr val="5A6B7A"/>
                </a:solidFill>
                <a:latin typeface="Calibri"/>
              </a:rPr>
              <a:t>Trip Planner  |  Graduation Project</a:t>
            </a:r>
          </a:p>
        </p:txBody>
      </p:sp>
      <p:sp>
        <p:nvSpPr>
          <p:cNvPr id="8" name="Intro"/>
          <p:cNvSpPr txBox="1"/>
          <p:nvPr/>
        </p:nvSpPr>
        <p:spPr>
          <a:xfrm>
            <a:off x="548640" y="1325880"/>
            <a:ext cx="11094720" cy="6400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27B5B0"/>
                </a:solidFill>
                <a:latin typeface="Calibri"/>
              </a:rPr>
              <a:t>Built on a foundation ready to grow with users and features.</a:t>
            </a:r>
          </a:p>
        </p:txBody>
      </p:sp>
      <p:sp>
        <p:nvSpPr>
          <p:cNvPr id="9" name="Panel"/>
          <p:cNvSpPr/>
          <p:nvPr/>
        </p:nvSpPr>
        <p:spPr>
          <a:xfrm>
            <a:off x="548640" y="2057400"/>
            <a:ext cx="11094720" cy="4023360"/>
          </a:xfrm>
          <a:prstGeom prst="rect">
            <a:avLst/>
          </a:prstGeom>
          <a:solidFill>
            <a:srgbClr val="F4F7F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0" name="Bullets"/>
          <p:cNvSpPr txBox="1"/>
          <p:nvPr/>
        </p:nvSpPr>
        <p:spPr>
          <a:xfrm>
            <a:off x="914400" y="2240280"/>
            <a:ext cx="10363200" cy="36576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Multi-language support for international travelers.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Native mobile applications for iOS and Android.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Direct booking integrations with hotels and flights.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Group trip collaboration with shared itineraries.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Advanced AI personalization driven by larger user datasets.</a:t>
            </a:r>
          </a:p>
          <a:p>
            <a:pPr algn="l" indent="-228600" marL="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/>
              </a:rPr>
              <a:t>Cloud-scale deployment with caching and load balancing.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5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4526280"/>
            <a:ext cx="12192000" cy="109728"/>
          </a:xfrm>
          <a:prstGeom prst="rect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4" name="ThankTitle"/>
          <p:cNvSpPr txBox="1"/>
          <p:nvPr/>
        </p:nvSpPr>
        <p:spPr>
          <a:xfrm>
            <a:off x="0" y="2194560"/>
            <a:ext cx="12192000" cy="13716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ctr"/>
            <a:r>
              <a:rPr lang="en-US" sz="8400" b="1" dirty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hankSub"/>
          <p:cNvSpPr txBox="1"/>
          <p:nvPr/>
        </p:nvSpPr>
        <p:spPr>
          <a:xfrm>
            <a:off x="0" y="3657600"/>
            <a:ext cx="12192000" cy="6400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ctr"/>
            <a:r>
              <a:rPr lang="en-US" sz="2200" dirty="0">
                <a:solidFill>
                  <a:srgbClr val="DDE7EF"/>
                </a:solidFill>
                <a:latin typeface="Calibri"/>
              </a:rPr>
              <a:t>Trip Planner  -  Smarter trips, effortlessly planned.</a:t>
            </a:r>
          </a:p>
        </p:txBody>
      </p:sp>
      <p:sp>
        <p:nvSpPr>
          <p:cNvPr id="6" name="ThankFoot"/>
          <p:cNvSpPr txBox="1"/>
          <p:nvPr/>
        </p:nvSpPr>
        <p:spPr>
          <a:xfrm>
            <a:off x="0" y="4892040"/>
            <a:ext cx="12192000" cy="4572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ctr"/>
            <a:r>
              <a:rPr lang="en-US" sz="1400" b="1" dirty="0">
                <a:solidFill>
                  <a:srgbClr val="F2A65A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DotL"/>
          <p:cNvSpPr/>
          <p:nvPr/>
        </p:nvSpPr>
        <p:spPr>
          <a:xfrm>
            <a:off x="914400" y="5943600"/>
            <a:ext cx="365760" cy="365760"/>
          </a:xfrm>
          <a:prstGeom prst="ellipse">
            <a:avLst/>
          </a:prstGeom>
          <a:solidFill>
            <a:srgbClr val="27B5B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8" name="DotR"/>
          <p:cNvSpPr/>
          <p:nvPr/>
        </p:nvSpPr>
        <p:spPr>
          <a:xfrm>
            <a:off x="10911840" y="640080"/>
            <a:ext cx="365760" cy="365760"/>
          </a:xfrm>
          <a:prstGeom prst="ellipse">
            <a:avLst/>
          </a:prstGeom>
          <a:solidFill>
            <a:srgbClr val="F2A65A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ip Planner">
  <a:themeElements>
    <a:clrScheme name="Trip Planner">
      <a:dk1>
        <a:sysClr val="windowText" lastClr="000000"/>
      </a:dk1>
      <a:lt1>
        <a:sysClr val="window" lastClr="FFFFFF"/>
      </a:lt1>
      <a:dk2>
        <a:srgbClr val="0B3D5C"/>
      </a:dk2>
      <a:lt2>
        <a:srgbClr val="F4F7FA"/>
      </a:lt2>
      <a:accent1>
        <a:srgbClr val="0B3D5C"/>
      </a:accent1>
      <a:accent2>
        <a:srgbClr val="27B5B0"/>
      </a:accent2>
      <a:accent3>
        <a:srgbClr val="F2A65A"/>
      </a:accent3>
      <a:accent4>
        <a:srgbClr val="07263A"/>
      </a:accent4>
      <a:accent5>
        <a:srgbClr val="DDE7EF"/>
      </a:accent5>
      <a:accent6>
        <a:srgbClr val="9FB3C2"/>
      </a:accent6>
      <a:hlink>
        <a:srgbClr val="27B5B0"/>
      </a:hlink>
      <a:folHlink>
        <a:srgbClr val="F2A65A"/>
      </a:folHlink>
    </a:clrScheme>
    <a:fontScheme name="Trip Planner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Trip Planner Builder</Application>
  <Slides>16</Slides>
  <PresentationFormat>Widescreen</PresentationFormat>
  <TitlesOfParts>
    <vt:vector size="1" baseType="lpstr">
      <vt:lpstr>Trip Planner Graduation Project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Trip Planner - Graduation Project</dc:title>
  <dc:creator>Trip Planner Team</dc:creator>
  <cp:lastModifiedBy>Trip Planner Team</cp:lastModifiedBy>
  <dcterms:created xsi:type="dcterms:W3CDTF">2026-04-27T23:07:00Z</dcterms:created>
  <dcterms:modified xsi:type="dcterms:W3CDTF">2026-04-27T23:07:00Z</dcterms:modified>
</cp:coreProperties>
</file>