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
<Relationship Id="rId20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0F2A2E"/>
          </a:solidFill>
          <a:latin typeface="Calibri"/>
        </a:defRPr>
      </a:lvl1pPr>
    </p:titleStyle>
    <p:bodyStyle>
      <a:lvl1pPr>
        <a:defRPr sz="1800">
          <a:solidFill>
            <a:srgbClr val="1F2937"/>
          </a:solidFill>
          <a:latin typeface="Calibri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2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3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4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F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pic>
        <p:nvPicPr>
          <p:cNvPr id="3" name="Hero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278880" y="0"/>
            <a:ext cx="5913120" cy="685800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200" b="1" dirty="0">
                <a:solidFill>
                  <a:srgbClr val="FF6F61"/>
                </a:solidFill>
                <a:latin typeface="Calibri"/>
              </a:rPr>
              <a:t>GRADUATION PROJECT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22960" y="2194560"/>
            <a:ext cx="5486400" cy="1554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8000" b="1" dirty="0">
                <a:solidFill>
                  <a:srgbClr val="0F2A2E"/>
                </a:solidFill>
                <a:latin typeface="Calibri"/>
              </a:rPr>
              <a:t>Trip Planner</a:t>
            </a:r>
          </a:p>
        </p:txBody>
      </p:sp>
      <p:sp>
        <p:nvSpPr>
          <p:cNvPr id="6" name="Bar"/>
          <p:cNvSpPr/>
          <p:nvPr/>
        </p:nvSpPr>
        <p:spPr>
          <a:xfrm>
            <a:off x="822960" y="3840480"/>
            <a:ext cx="914400" cy="73152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Sub"/>
          <p:cNvSpPr txBox="1"/>
          <p:nvPr/>
        </p:nvSpPr>
        <p:spPr>
          <a:xfrm>
            <a:off x="822960" y="4069080"/>
            <a:ext cx="5029200" cy="10972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F2937"/>
                </a:solidFill>
                <a:latin typeface="Calibri"/>
              </a:rPr>
              <a:t>An AI-Powered Smart Travel Planning System</a:t>
            </a:r>
          </a:p>
        </p:txBody>
      </p:sp>
      <p:sp>
        <p:nvSpPr>
          <p:cNvPr id="8" name="Meta"/>
          <p:cNvSpPr txBox="1"/>
          <p:nvPr/>
        </p:nvSpPr>
        <p:spPr>
          <a:xfrm>
            <a:off x="822960" y="6035040"/>
            <a:ext cx="45720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b="1" dirty="0">
                <a:solidFill>
                  <a:srgbClr val="6B7280"/>
                </a:solidFill>
                <a:latin typeface="Calibri"/>
              </a:rPr>
              <a:t>PRESENTED · 2026</a:t>
            </a:r>
          </a:p>
        </p:txBody>
      </p:sp>
      <p:sp>
        <p:nvSpPr>
          <p:cNvPr id="9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A2E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Num"/>
          <p:cNvSpPr txBox="1"/>
          <p:nvPr/>
        </p:nvSpPr>
        <p:spPr>
          <a:xfrm>
            <a:off x="548640" y="548640"/>
            <a:ext cx="5486400" cy="45720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24000" b="1" dirty="0">
                <a:solidFill>
                  <a:srgbClr val="143034"/>
                </a:solidFill>
                <a:latin typeface="Calibri"/>
              </a:rPr>
              <a:t>01</a:t>
            </a:r>
          </a:p>
        </p:txBody>
      </p:sp>
      <p:sp>
        <p:nvSpPr>
          <p:cNvPr id="4" name="Lab"/>
          <p:cNvSpPr txBox="1"/>
          <p:nvPr/>
        </p:nvSpPr>
        <p:spPr>
          <a:xfrm>
            <a:off x="822960" y="2743200"/>
            <a:ext cx="731520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FF6F61"/>
                </a:solidFill>
                <a:latin typeface="Calibri"/>
              </a:rPr>
              <a:t>THE CHALLENGE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22960" y="3108960"/>
            <a:ext cx="10058400" cy="13716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6400" b="1" dirty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Bar"/>
          <p:cNvSpPr/>
          <p:nvPr/>
        </p:nvSpPr>
        <p:spPr>
          <a:xfrm>
            <a:off x="822960" y="4297680"/>
            <a:ext cx="1371600" cy="73152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PN"/>
          <p:cNvSpPr txBox="1"/>
          <p:nvPr/>
        </p:nvSpPr>
        <p:spPr>
          <a:xfrm>
            <a:off x="10363200" y="6217920"/>
            <a:ext cx="13716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6FA39C"/>
                </a:solidFill>
                <a:latin typeface="Calibri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03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Lead"/>
          <p:cNvSpPr txBox="1"/>
          <p:nvPr/>
        </p:nvSpPr>
        <p:spPr>
          <a:xfrm>
            <a:off x="548640" y="1554480"/>
            <a:ext cx="11094720" cy="7315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800" i="1" dirty="0">
                <a:solidFill>
                  <a:srgbClr val="0D7B6F"/>
                </a:solidFill>
                <a:latin typeface="Calibri"/>
              </a:rPr>
              <a:t>Planning a trip is fragmented, slow, and rarely personal.</a:t>
            </a:r>
          </a:p>
        </p:txBody>
      </p:sp>
      <p:sp>
        <p:nvSpPr>
          <p:cNvPr id="12" name="Card0"/>
          <p:cNvSpPr/>
          <p:nvPr/>
        </p:nvSpPr>
        <p:spPr>
          <a:xfrm>
            <a:off x="548640" y="246888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Dot0"/>
          <p:cNvSpPr/>
          <p:nvPr/>
        </p:nvSpPr>
        <p:spPr>
          <a:xfrm>
            <a:off x="777240" y="274320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4" name="DotN0"/>
          <p:cNvSpPr txBox="1"/>
          <p:nvPr/>
        </p:nvSpPr>
        <p:spPr>
          <a:xfrm>
            <a:off x="777240" y="279806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Lab0"/>
          <p:cNvSpPr txBox="1"/>
          <p:nvPr/>
        </p:nvSpPr>
        <p:spPr>
          <a:xfrm>
            <a:off x="1234440" y="269748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Tool overload</a:t>
            </a:r>
          </a:p>
        </p:txBody>
      </p:sp>
      <p:sp>
        <p:nvSpPr>
          <p:cNvPr id="16" name="Bd0"/>
          <p:cNvSpPr txBox="1"/>
          <p:nvPr/>
        </p:nvSpPr>
        <p:spPr>
          <a:xfrm>
            <a:off x="1234440" y="310896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Travelers juggle maps, blogs, reviews, and booking sites separately.</a:t>
            </a:r>
          </a:p>
        </p:txBody>
      </p:sp>
      <p:sp>
        <p:nvSpPr>
          <p:cNvPr id="17" name="Card1"/>
          <p:cNvSpPr/>
          <p:nvPr/>
        </p:nvSpPr>
        <p:spPr>
          <a:xfrm>
            <a:off x="6233160" y="246888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8" name="Dot1"/>
          <p:cNvSpPr/>
          <p:nvPr/>
        </p:nvSpPr>
        <p:spPr>
          <a:xfrm>
            <a:off x="6461760" y="274320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9" name="DotN1"/>
          <p:cNvSpPr txBox="1"/>
          <p:nvPr/>
        </p:nvSpPr>
        <p:spPr>
          <a:xfrm>
            <a:off x="6461760" y="279806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Lab1"/>
          <p:cNvSpPr txBox="1"/>
          <p:nvPr/>
        </p:nvSpPr>
        <p:spPr>
          <a:xfrm>
            <a:off x="6918960" y="269748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Generic results</a:t>
            </a:r>
          </a:p>
        </p:txBody>
      </p:sp>
      <p:sp>
        <p:nvSpPr>
          <p:cNvPr id="21" name="Bd1"/>
          <p:cNvSpPr txBox="1"/>
          <p:nvPr/>
        </p:nvSpPr>
        <p:spPr>
          <a:xfrm>
            <a:off x="6918960" y="310896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Recommendations ignore budget, group type, and personal taste.</a:t>
            </a:r>
          </a:p>
        </p:txBody>
      </p:sp>
      <p:sp>
        <p:nvSpPr>
          <p:cNvPr id="22" name="Card2"/>
          <p:cNvSpPr/>
          <p:nvPr/>
        </p:nvSpPr>
        <p:spPr>
          <a:xfrm>
            <a:off x="548640" y="381000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3" name="Dot2"/>
          <p:cNvSpPr/>
          <p:nvPr/>
        </p:nvSpPr>
        <p:spPr>
          <a:xfrm>
            <a:off x="777240" y="408432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4" name="DotN2"/>
          <p:cNvSpPr txBox="1"/>
          <p:nvPr/>
        </p:nvSpPr>
        <p:spPr>
          <a:xfrm>
            <a:off x="777240" y="413918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Lab2"/>
          <p:cNvSpPr txBox="1"/>
          <p:nvPr/>
        </p:nvSpPr>
        <p:spPr>
          <a:xfrm>
            <a:off x="1234440" y="403860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Manual itineraries</a:t>
            </a:r>
          </a:p>
        </p:txBody>
      </p:sp>
      <p:sp>
        <p:nvSpPr>
          <p:cNvPr id="26" name="Bd2"/>
          <p:cNvSpPr txBox="1"/>
          <p:nvPr/>
        </p:nvSpPr>
        <p:spPr>
          <a:xfrm>
            <a:off x="1234440" y="445008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Building a realistic day-by-day plan takes hours of work.</a:t>
            </a:r>
          </a:p>
        </p:txBody>
      </p:sp>
      <p:sp>
        <p:nvSpPr>
          <p:cNvPr id="27" name="Card3"/>
          <p:cNvSpPr/>
          <p:nvPr/>
        </p:nvSpPr>
        <p:spPr>
          <a:xfrm>
            <a:off x="6233160" y="381000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8" name="Dot3"/>
          <p:cNvSpPr/>
          <p:nvPr/>
        </p:nvSpPr>
        <p:spPr>
          <a:xfrm>
            <a:off x="6461760" y="408432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9" name="DotN3"/>
          <p:cNvSpPr txBox="1"/>
          <p:nvPr/>
        </p:nvSpPr>
        <p:spPr>
          <a:xfrm>
            <a:off x="6461760" y="413918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Lab3"/>
          <p:cNvSpPr txBox="1"/>
          <p:nvPr/>
        </p:nvSpPr>
        <p:spPr>
          <a:xfrm>
            <a:off x="6918960" y="403860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Hard trade-offs</a:t>
            </a:r>
          </a:p>
        </p:txBody>
      </p:sp>
      <p:sp>
        <p:nvSpPr>
          <p:cNvPr id="31" name="Bd3"/>
          <p:cNvSpPr txBox="1"/>
          <p:nvPr/>
        </p:nvSpPr>
        <p:spPr>
          <a:xfrm>
            <a:off x="6918960" y="445008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Distance, timing, and cost are difficult to balance by hand.</a:t>
            </a:r>
          </a:p>
        </p:txBody>
      </p:sp>
      <p:sp>
        <p:nvSpPr>
          <p:cNvPr id="32" name="Card4"/>
          <p:cNvSpPr/>
          <p:nvPr/>
        </p:nvSpPr>
        <p:spPr>
          <a:xfrm>
            <a:off x="548640" y="515112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3" name="Dot4"/>
          <p:cNvSpPr/>
          <p:nvPr/>
        </p:nvSpPr>
        <p:spPr>
          <a:xfrm>
            <a:off x="777240" y="542544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4" name="DotN4"/>
          <p:cNvSpPr txBox="1"/>
          <p:nvPr/>
        </p:nvSpPr>
        <p:spPr>
          <a:xfrm>
            <a:off x="777240" y="548030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5" name="Lab4"/>
          <p:cNvSpPr txBox="1"/>
          <p:nvPr/>
        </p:nvSpPr>
        <p:spPr>
          <a:xfrm>
            <a:off x="1234440" y="537972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No single platform</a:t>
            </a:r>
          </a:p>
        </p:txBody>
      </p:sp>
      <p:sp>
        <p:nvSpPr>
          <p:cNvPr id="36" name="Bd4"/>
          <p:cNvSpPr txBox="1"/>
          <p:nvPr/>
        </p:nvSpPr>
        <p:spPr>
          <a:xfrm>
            <a:off x="1234440" y="579120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Planning, recommendations, and reservations live in different apps.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A2E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Num"/>
          <p:cNvSpPr txBox="1"/>
          <p:nvPr/>
        </p:nvSpPr>
        <p:spPr>
          <a:xfrm>
            <a:off x="548640" y="548640"/>
            <a:ext cx="5486400" cy="45720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24000" b="1" dirty="0">
                <a:solidFill>
                  <a:srgbClr val="143034"/>
                </a:solidFill>
                <a:latin typeface="Calibri"/>
              </a:rPr>
              <a:t>02</a:t>
            </a:r>
          </a:p>
        </p:txBody>
      </p:sp>
      <p:sp>
        <p:nvSpPr>
          <p:cNvPr id="4" name="Lab"/>
          <p:cNvSpPr txBox="1"/>
          <p:nvPr/>
        </p:nvSpPr>
        <p:spPr>
          <a:xfrm>
            <a:off x="822960" y="2743200"/>
            <a:ext cx="731520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FF6F61"/>
                </a:solidFill>
                <a:latin typeface="Calibri"/>
              </a:rPr>
              <a:t>OUR ANSWER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22960" y="3108960"/>
            <a:ext cx="10058400" cy="13716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6400" b="1" dirty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Bar"/>
          <p:cNvSpPr/>
          <p:nvPr/>
        </p:nvSpPr>
        <p:spPr>
          <a:xfrm>
            <a:off x="822960" y="4297680"/>
            <a:ext cx="1371600" cy="73152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7" name="PN"/>
          <p:cNvSpPr txBox="1"/>
          <p:nvPr/>
        </p:nvSpPr>
        <p:spPr>
          <a:xfrm>
            <a:off x="10363200" y="6217920"/>
            <a:ext cx="13716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100" b="1" dirty="0">
                <a:solidFill>
                  <a:srgbClr val="6FA39C"/>
                </a:solidFill>
                <a:latin typeface="Calibri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05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Lead"/>
          <p:cNvSpPr txBox="1"/>
          <p:nvPr/>
        </p:nvSpPr>
        <p:spPr>
          <a:xfrm>
            <a:off x="548640" y="1554480"/>
            <a:ext cx="11094720" cy="7315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800" i="1" dirty="0">
                <a:solidFill>
                  <a:srgbClr val="0D7B6F"/>
                </a:solidFill>
                <a:latin typeface="Calibri"/>
              </a:rPr>
              <a:t>An intelligent travel companion that builds a personalized trip in seconds.</a:t>
            </a:r>
          </a:p>
        </p:txBody>
      </p:sp>
      <p:sp>
        <p:nvSpPr>
          <p:cNvPr id="12" name="Card0"/>
          <p:cNvSpPr/>
          <p:nvPr/>
        </p:nvSpPr>
        <p:spPr>
          <a:xfrm>
            <a:off x="548640" y="246888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Dot0"/>
          <p:cNvSpPr/>
          <p:nvPr/>
        </p:nvSpPr>
        <p:spPr>
          <a:xfrm>
            <a:off x="777240" y="274320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4" name="DotN0"/>
          <p:cNvSpPr txBox="1"/>
          <p:nvPr/>
        </p:nvSpPr>
        <p:spPr>
          <a:xfrm>
            <a:off x="777240" y="279806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Lab0"/>
          <p:cNvSpPr txBox="1"/>
          <p:nvPr/>
        </p:nvSpPr>
        <p:spPr>
          <a:xfrm>
            <a:off x="1234440" y="269748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Smart inputs</a:t>
            </a:r>
          </a:p>
        </p:txBody>
      </p:sp>
      <p:sp>
        <p:nvSpPr>
          <p:cNvPr id="16" name="Bd0"/>
          <p:cNvSpPr txBox="1"/>
          <p:nvPr/>
        </p:nvSpPr>
        <p:spPr>
          <a:xfrm>
            <a:off x="1234440" y="310896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Destination, duration, budget, trip type, and traveler count.</a:t>
            </a:r>
          </a:p>
        </p:txBody>
      </p:sp>
      <p:sp>
        <p:nvSpPr>
          <p:cNvPr id="17" name="Card1"/>
          <p:cNvSpPr/>
          <p:nvPr/>
        </p:nvSpPr>
        <p:spPr>
          <a:xfrm>
            <a:off x="6233160" y="246888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8" name="Dot1"/>
          <p:cNvSpPr/>
          <p:nvPr/>
        </p:nvSpPr>
        <p:spPr>
          <a:xfrm>
            <a:off x="6461760" y="274320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9" name="DotN1"/>
          <p:cNvSpPr txBox="1"/>
          <p:nvPr/>
        </p:nvSpPr>
        <p:spPr>
          <a:xfrm>
            <a:off x="6461760" y="279806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Lab1"/>
          <p:cNvSpPr txBox="1"/>
          <p:nvPr/>
        </p:nvSpPr>
        <p:spPr>
          <a:xfrm>
            <a:off x="6918960" y="269748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AI-generated plan</a:t>
            </a:r>
          </a:p>
        </p:txBody>
      </p:sp>
      <p:sp>
        <p:nvSpPr>
          <p:cNvPr id="21" name="Bd1"/>
          <p:cNvSpPr txBox="1"/>
          <p:nvPr/>
        </p:nvSpPr>
        <p:spPr>
          <a:xfrm>
            <a:off x="6918960" y="310896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A complete day-by-day itinerary tuned to the user's profile.</a:t>
            </a:r>
          </a:p>
        </p:txBody>
      </p:sp>
      <p:sp>
        <p:nvSpPr>
          <p:cNvPr id="22" name="Card2"/>
          <p:cNvSpPr/>
          <p:nvPr/>
        </p:nvSpPr>
        <p:spPr>
          <a:xfrm>
            <a:off x="548640" y="381000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3" name="Dot2"/>
          <p:cNvSpPr/>
          <p:nvPr/>
        </p:nvSpPr>
        <p:spPr>
          <a:xfrm>
            <a:off x="777240" y="408432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4" name="DotN2"/>
          <p:cNvSpPr txBox="1"/>
          <p:nvPr/>
        </p:nvSpPr>
        <p:spPr>
          <a:xfrm>
            <a:off x="777240" y="413918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Lab2"/>
          <p:cNvSpPr txBox="1"/>
          <p:nvPr/>
        </p:nvSpPr>
        <p:spPr>
          <a:xfrm>
            <a:off x="1234440" y="403860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Authoritative data</a:t>
            </a:r>
          </a:p>
        </p:txBody>
      </p:sp>
      <p:sp>
        <p:nvSpPr>
          <p:cNvPr id="26" name="Bd2"/>
          <p:cNvSpPr txBox="1"/>
          <p:nvPr/>
        </p:nvSpPr>
        <p:spPr>
          <a:xfrm>
            <a:off x="1234440" y="445008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Powered by Google Maps and Google Places APIs.</a:t>
            </a:r>
          </a:p>
        </p:txBody>
      </p:sp>
      <p:sp>
        <p:nvSpPr>
          <p:cNvPr id="27" name="Card3"/>
          <p:cNvSpPr/>
          <p:nvPr/>
        </p:nvSpPr>
        <p:spPr>
          <a:xfrm>
            <a:off x="6233160" y="381000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8" name="Dot3"/>
          <p:cNvSpPr/>
          <p:nvPr/>
        </p:nvSpPr>
        <p:spPr>
          <a:xfrm>
            <a:off x="6461760" y="408432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9" name="DotN3"/>
          <p:cNvSpPr txBox="1"/>
          <p:nvPr/>
        </p:nvSpPr>
        <p:spPr>
          <a:xfrm>
            <a:off x="6461760" y="413918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Lab3"/>
          <p:cNvSpPr txBox="1"/>
          <p:nvPr/>
        </p:nvSpPr>
        <p:spPr>
          <a:xfrm>
            <a:off x="6918960" y="403860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Interactive map</a:t>
            </a:r>
          </a:p>
        </p:txBody>
      </p:sp>
      <p:sp>
        <p:nvSpPr>
          <p:cNvPr id="31" name="Bd3"/>
          <p:cNvSpPr txBox="1"/>
          <p:nvPr/>
        </p:nvSpPr>
        <p:spPr>
          <a:xfrm>
            <a:off x="6918960" y="445008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Markers, distances, and routes between every stop.</a:t>
            </a:r>
          </a:p>
        </p:txBody>
      </p:sp>
      <p:sp>
        <p:nvSpPr>
          <p:cNvPr id="32" name="Card4"/>
          <p:cNvSpPr/>
          <p:nvPr/>
        </p:nvSpPr>
        <p:spPr>
          <a:xfrm>
            <a:off x="548640" y="515112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3" name="Dot4"/>
          <p:cNvSpPr/>
          <p:nvPr/>
        </p:nvSpPr>
        <p:spPr>
          <a:xfrm>
            <a:off x="777240" y="542544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4" name="DotN4"/>
          <p:cNvSpPr txBox="1"/>
          <p:nvPr/>
        </p:nvSpPr>
        <p:spPr>
          <a:xfrm>
            <a:off x="777240" y="548030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5" name="Lab4"/>
          <p:cNvSpPr txBox="1"/>
          <p:nvPr/>
        </p:nvSpPr>
        <p:spPr>
          <a:xfrm>
            <a:off x="1234440" y="537972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WhatsApp actions</a:t>
            </a:r>
          </a:p>
        </p:txBody>
      </p:sp>
      <p:sp>
        <p:nvSpPr>
          <p:cNvPr id="36" name="Bd4"/>
          <p:cNvSpPr txBox="1"/>
          <p:nvPr/>
        </p:nvSpPr>
        <p:spPr>
          <a:xfrm>
            <a:off x="1234440" y="579120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Reservations and reminders inside the user's daily app.</a:t>
            </a:r>
          </a:p>
        </p:txBody>
      </p:sp>
      <p:sp>
        <p:nvSpPr>
          <p:cNvPr id="37" name="Card5"/>
          <p:cNvSpPr/>
          <p:nvPr/>
        </p:nvSpPr>
        <p:spPr>
          <a:xfrm>
            <a:off x="6233160" y="515112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8" name="Dot5"/>
          <p:cNvSpPr/>
          <p:nvPr/>
        </p:nvSpPr>
        <p:spPr>
          <a:xfrm>
            <a:off x="6461760" y="542544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9" name="DotN5"/>
          <p:cNvSpPr txBox="1"/>
          <p:nvPr/>
        </p:nvSpPr>
        <p:spPr>
          <a:xfrm>
            <a:off x="6461760" y="548030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0" name="Lab5"/>
          <p:cNvSpPr txBox="1"/>
          <p:nvPr/>
        </p:nvSpPr>
        <p:spPr>
          <a:xfrm>
            <a:off x="6918960" y="537972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Persistent history</a:t>
            </a:r>
          </a:p>
        </p:txBody>
      </p:sp>
      <p:sp>
        <p:nvSpPr>
          <p:cNvPr id="41" name="Bd5"/>
          <p:cNvSpPr txBox="1"/>
          <p:nvPr/>
        </p:nvSpPr>
        <p:spPr>
          <a:xfrm>
            <a:off x="6918960" y="579120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Trips, preferences, and reservations stored securely.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06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OB0"/>
          <p:cNvSpPr/>
          <p:nvPr/>
        </p:nvSpPr>
        <p:spPr>
          <a:xfrm>
            <a:off x="548640" y="1737360"/>
            <a:ext cx="3515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2" name="OBBar0"/>
          <p:cNvSpPr/>
          <p:nvPr/>
        </p:nvSpPr>
        <p:spPr>
          <a:xfrm>
            <a:off x="548640" y="1737360"/>
            <a:ext cx="91440" cy="2103120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OBNum0"/>
          <p:cNvSpPr txBox="1"/>
          <p:nvPr/>
        </p:nvSpPr>
        <p:spPr>
          <a:xfrm>
            <a:off x="914400" y="2011680"/>
            <a:ext cx="30581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OBJECTIVE 01</a:t>
            </a:r>
          </a:p>
        </p:txBody>
      </p:sp>
      <p:sp>
        <p:nvSpPr>
          <p:cNvPr id="14" name="OBLab0"/>
          <p:cNvSpPr txBox="1"/>
          <p:nvPr/>
        </p:nvSpPr>
        <p:spPr>
          <a:xfrm>
            <a:off x="914400" y="2331720"/>
            <a:ext cx="3058160" cy="5486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2400" b="1" dirty="0">
                <a:solidFill>
                  <a:srgbClr val="0F2A2E"/>
                </a:solidFill>
                <a:latin typeface="Calibri"/>
              </a:rPr>
              <a:t>Automate</a:t>
            </a:r>
          </a:p>
        </p:txBody>
      </p:sp>
      <p:sp>
        <p:nvSpPr>
          <p:cNvPr id="15" name="OBBd0"/>
          <p:cNvSpPr txBox="1"/>
          <p:nvPr/>
        </p:nvSpPr>
        <p:spPr>
          <a:xfrm>
            <a:off x="914400" y="3017520"/>
            <a:ext cx="2875280" cy="7315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Generate complete itineraries from minimal user input.</a:t>
            </a:r>
          </a:p>
        </p:txBody>
      </p:sp>
      <p:sp>
        <p:nvSpPr>
          <p:cNvPr id="16" name="OB1"/>
          <p:cNvSpPr/>
          <p:nvPr/>
        </p:nvSpPr>
        <p:spPr>
          <a:xfrm>
            <a:off x="4338320" y="1737360"/>
            <a:ext cx="3515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7" name="OBBar1"/>
          <p:cNvSpPr/>
          <p:nvPr/>
        </p:nvSpPr>
        <p:spPr>
          <a:xfrm>
            <a:off x="4338320" y="1737360"/>
            <a:ext cx="91440" cy="21031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8" name="OBNum1"/>
          <p:cNvSpPr txBox="1"/>
          <p:nvPr/>
        </p:nvSpPr>
        <p:spPr>
          <a:xfrm>
            <a:off x="4704080" y="2011680"/>
            <a:ext cx="30581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OBJECTIVE 02</a:t>
            </a:r>
          </a:p>
        </p:txBody>
      </p:sp>
      <p:sp>
        <p:nvSpPr>
          <p:cNvPr id="19" name="OBLab1"/>
          <p:cNvSpPr txBox="1"/>
          <p:nvPr/>
        </p:nvSpPr>
        <p:spPr>
          <a:xfrm>
            <a:off x="4704080" y="2331720"/>
            <a:ext cx="3058160" cy="5486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2400" b="1" dirty="0">
                <a:solidFill>
                  <a:srgbClr val="0F2A2E"/>
                </a:solidFill>
                <a:latin typeface="Calibri"/>
              </a:rPr>
              <a:t>Personalize</a:t>
            </a:r>
          </a:p>
        </p:txBody>
      </p:sp>
      <p:sp>
        <p:nvSpPr>
          <p:cNvPr id="20" name="OBBd1"/>
          <p:cNvSpPr txBox="1"/>
          <p:nvPr/>
        </p:nvSpPr>
        <p:spPr>
          <a:xfrm>
            <a:off x="4704080" y="3017520"/>
            <a:ext cx="2875280" cy="7315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Tailor every recommendation to the user's profile.</a:t>
            </a:r>
          </a:p>
        </p:txBody>
      </p:sp>
      <p:sp>
        <p:nvSpPr>
          <p:cNvPr id="21" name="OB2"/>
          <p:cNvSpPr/>
          <p:nvPr/>
        </p:nvSpPr>
        <p:spPr>
          <a:xfrm>
            <a:off x="8128000" y="1737360"/>
            <a:ext cx="3515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2" name="OBBar2"/>
          <p:cNvSpPr/>
          <p:nvPr/>
        </p:nvSpPr>
        <p:spPr>
          <a:xfrm>
            <a:off x="8128000" y="1737360"/>
            <a:ext cx="91440" cy="2103120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3" name="OBNum2"/>
          <p:cNvSpPr txBox="1"/>
          <p:nvPr/>
        </p:nvSpPr>
        <p:spPr>
          <a:xfrm>
            <a:off x="8493760" y="2011680"/>
            <a:ext cx="30581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OBJECTIVE 03</a:t>
            </a:r>
          </a:p>
        </p:txBody>
      </p:sp>
      <p:sp>
        <p:nvSpPr>
          <p:cNvPr id="24" name="OBLab2"/>
          <p:cNvSpPr txBox="1"/>
          <p:nvPr/>
        </p:nvSpPr>
        <p:spPr>
          <a:xfrm>
            <a:off x="8493760" y="2331720"/>
            <a:ext cx="3058160" cy="5486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2400" b="1" dirty="0">
                <a:solidFill>
                  <a:srgbClr val="0F2A2E"/>
                </a:solidFill>
                <a:latin typeface="Calibri"/>
              </a:rPr>
              <a:t>Integrate</a:t>
            </a:r>
          </a:p>
        </p:txBody>
      </p:sp>
      <p:sp>
        <p:nvSpPr>
          <p:cNvPr id="25" name="OBBd2"/>
          <p:cNvSpPr txBox="1"/>
          <p:nvPr/>
        </p:nvSpPr>
        <p:spPr>
          <a:xfrm>
            <a:off x="8493760" y="3017520"/>
            <a:ext cx="2875280" cy="7315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Connect Google Maps, Places, AI, and WhatsApp.</a:t>
            </a:r>
          </a:p>
        </p:txBody>
      </p:sp>
      <p:sp>
        <p:nvSpPr>
          <p:cNvPr id="26" name="OB3"/>
          <p:cNvSpPr/>
          <p:nvPr/>
        </p:nvSpPr>
        <p:spPr>
          <a:xfrm>
            <a:off x="548640" y="4114800"/>
            <a:ext cx="3515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7" name="OBBar3"/>
          <p:cNvSpPr/>
          <p:nvPr/>
        </p:nvSpPr>
        <p:spPr>
          <a:xfrm>
            <a:off x="548640" y="4114800"/>
            <a:ext cx="91440" cy="21031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8" name="OBNum3"/>
          <p:cNvSpPr txBox="1"/>
          <p:nvPr/>
        </p:nvSpPr>
        <p:spPr>
          <a:xfrm>
            <a:off x="914400" y="4389120"/>
            <a:ext cx="30581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OBJECTIVE 04</a:t>
            </a:r>
          </a:p>
        </p:txBody>
      </p:sp>
      <p:sp>
        <p:nvSpPr>
          <p:cNvPr id="29" name="OBLab3"/>
          <p:cNvSpPr txBox="1"/>
          <p:nvPr/>
        </p:nvSpPr>
        <p:spPr>
          <a:xfrm>
            <a:off x="914400" y="4709160"/>
            <a:ext cx="3058160" cy="5486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2400" b="1" dirty="0">
                <a:solidFill>
                  <a:srgbClr val="0F2A2E"/>
                </a:solidFill>
                <a:latin typeface="Calibri"/>
              </a:rPr>
              <a:t>Simplify</a:t>
            </a:r>
          </a:p>
        </p:txBody>
      </p:sp>
      <p:sp>
        <p:nvSpPr>
          <p:cNvPr id="30" name="OBBd3"/>
          <p:cNvSpPr txBox="1"/>
          <p:nvPr/>
        </p:nvSpPr>
        <p:spPr>
          <a:xfrm>
            <a:off x="914400" y="5394960"/>
            <a:ext cx="2875280" cy="7315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Deliver a clean, intuitive, responsive interface.</a:t>
            </a:r>
          </a:p>
        </p:txBody>
      </p:sp>
      <p:sp>
        <p:nvSpPr>
          <p:cNvPr id="31" name="OB4"/>
          <p:cNvSpPr/>
          <p:nvPr/>
        </p:nvSpPr>
        <p:spPr>
          <a:xfrm>
            <a:off x="4338320" y="4114800"/>
            <a:ext cx="3515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2" name="OBBar4"/>
          <p:cNvSpPr/>
          <p:nvPr/>
        </p:nvSpPr>
        <p:spPr>
          <a:xfrm>
            <a:off x="4338320" y="4114800"/>
            <a:ext cx="91440" cy="2103120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3" name="OBNum4"/>
          <p:cNvSpPr txBox="1"/>
          <p:nvPr/>
        </p:nvSpPr>
        <p:spPr>
          <a:xfrm>
            <a:off x="4704080" y="4389120"/>
            <a:ext cx="30581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OBJECTIVE 05</a:t>
            </a:r>
          </a:p>
        </p:txBody>
      </p:sp>
      <p:sp>
        <p:nvSpPr>
          <p:cNvPr id="34" name="OBLab4"/>
          <p:cNvSpPr txBox="1"/>
          <p:nvPr/>
        </p:nvSpPr>
        <p:spPr>
          <a:xfrm>
            <a:off x="4704080" y="4709160"/>
            <a:ext cx="3058160" cy="5486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2400" b="1" dirty="0">
                <a:solidFill>
                  <a:srgbClr val="0F2A2E"/>
                </a:solidFill>
                <a:latin typeface="Calibri"/>
              </a:rPr>
              <a:t>Persist</a:t>
            </a:r>
          </a:p>
        </p:txBody>
      </p:sp>
      <p:sp>
        <p:nvSpPr>
          <p:cNvPr id="35" name="OBBd4"/>
          <p:cNvSpPr txBox="1"/>
          <p:nvPr/>
        </p:nvSpPr>
        <p:spPr>
          <a:xfrm>
            <a:off x="4704080" y="5394960"/>
            <a:ext cx="2875280" cy="7315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Store trips, preferences, and history reliably.</a:t>
            </a:r>
          </a:p>
        </p:txBody>
      </p:sp>
      <p:sp>
        <p:nvSpPr>
          <p:cNvPr id="36" name="OB5"/>
          <p:cNvSpPr/>
          <p:nvPr/>
        </p:nvSpPr>
        <p:spPr>
          <a:xfrm>
            <a:off x="8128000" y="4114800"/>
            <a:ext cx="3515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7" name="OBBar5"/>
          <p:cNvSpPr/>
          <p:nvPr/>
        </p:nvSpPr>
        <p:spPr>
          <a:xfrm>
            <a:off x="8128000" y="4114800"/>
            <a:ext cx="91440" cy="21031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8" name="OBNum5"/>
          <p:cNvSpPr txBox="1"/>
          <p:nvPr/>
        </p:nvSpPr>
        <p:spPr>
          <a:xfrm>
            <a:off x="8493760" y="4389120"/>
            <a:ext cx="30581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OBJECTIVE 06</a:t>
            </a:r>
          </a:p>
        </p:txBody>
      </p:sp>
      <p:sp>
        <p:nvSpPr>
          <p:cNvPr id="39" name="OBLab5"/>
          <p:cNvSpPr txBox="1"/>
          <p:nvPr/>
        </p:nvSpPr>
        <p:spPr>
          <a:xfrm>
            <a:off x="8493760" y="4709160"/>
            <a:ext cx="3058160" cy="54864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2400" b="1" dirty="0">
                <a:solidFill>
                  <a:srgbClr val="0F2A2E"/>
                </a:solidFill>
                <a:latin typeface="Calibri"/>
              </a:rPr>
              <a:t>Act</a:t>
            </a:r>
          </a:p>
        </p:txBody>
      </p:sp>
      <p:sp>
        <p:nvSpPr>
          <p:cNvPr id="40" name="OBBd5"/>
          <p:cNvSpPr txBox="1"/>
          <p:nvPr/>
        </p:nvSpPr>
        <p:spPr>
          <a:xfrm>
            <a:off x="8493760" y="5394960"/>
            <a:ext cx="2875280" cy="7315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Turn plans into real reservations through WhatsApp.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System Features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07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LP"/>
          <p:cNvSpPr/>
          <p:nvPr/>
        </p:nvSpPr>
        <p:spPr>
          <a:xfrm>
            <a:off x="548640" y="1691640"/>
            <a:ext cx="53644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2" name="LH"/>
          <p:cNvSpPr/>
          <p:nvPr/>
        </p:nvSpPr>
        <p:spPr>
          <a:xfrm>
            <a:off x="548640" y="1691640"/>
            <a:ext cx="5364480" cy="640080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LHT"/>
          <p:cNvSpPr txBox="1"/>
          <p:nvPr/>
        </p:nvSpPr>
        <p:spPr>
          <a:xfrm>
            <a:off x="868680" y="1856232"/>
            <a:ext cx="490728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WHAT THE USER PROVIDES</a:t>
            </a:r>
          </a:p>
        </p:txBody>
      </p:sp>
      <p:sp>
        <p:nvSpPr>
          <p:cNvPr id="14" name="LI"/>
          <p:cNvSpPr txBox="1"/>
          <p:nvPr/>
        </p:nvSpPr>
        <p:spPr>
          <a:xfrm>
            <a:off x="914400" y="2606040"/>
            <a:ext cx="4815840" cy="34290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Destination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Trip duration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Budget — Low / Medium / High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Trip type — Family, Adventure, Romantic, Cultural, Relaxation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Number of travelers</a:t>
            </a:r>
          </a:p>
        </p:txBody>
      </p:sp>
      <p:sp>
        <p:nvSpPr>
          <p:cNvPr id="15" name="RP"/>
          <p:cNvSpPr/>
          <p:nvPr/>
        </p:nvSpPr>
        <p:spPr>
          <a:xfrm>
            <a:off x="6278880" y="1691640"/>
            <a:ext cx="53644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6" name="RH"/>
          <p:cNvSpPr/>
          <p:nvPr/>
        </p:nvSpPr>
        <p:spPr>
          <a:xfrm>
            <a:off x="6278880" y="1691640"/>
            <a:ext cx="5364480" cy="64008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7" name="RHT"/>
          <p:cNvSpPr txBox="1"/>
          <p:nvPr/>
        </p:nvSpPr>
        <p:spPr>
          <a:xfrm>
            <a:off x="6598920" y="1856232"/>
            <a:ext cx="490728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WHAT THE SYSTEM DELIVERS</a:t>
            </a:r>
          </a:p>
        </p:txBody>
      </p:sp>
      <p:sp>
        <p:nvSpPr>
          <p:cNvPr id="18" name="RI"/>
          <p:cNvSpPr txBox="1"/>
          <p:nvPr/>
        </p:nvSpPr>
        <p:spPr>
          <a:xfrm>
            <a:off x="6644640" y="2606040"/>
            <a:ext cx="4815840" cy="34290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Personalized daily itinerary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Recommended attractions, restaurants &amp; cafes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Interactive map with markers and distance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Budget-aware alternative suggestions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WhatsApp reservation &amp; reminder messages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Saved trip history per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08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Lead"/>
          <p:cNvSpPr txBox="1"/>
          <p:nvPr/>
        </p:nvSpPr>
        <p:spPr>
          <a:xfrm>
            <a:off x="548640" y="1508760"/>
            <a:ext cx="1109472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600" i="1" dirty="0">
                <a:solidFill>
                  <a:srgbClr val="0D7B6F"/>
                </a:solidFill>
                <a:latin typeface="Calibri"/>
              </a:rPr>
              <a:t>A clean, layered architecture designed for clarity and scale.</a:t>
            </a:r>
          </a:p>
        </p:txBody>
      </p:sp>
      <p:sp>
        <p:nvSpPr>
          <p:cNvPr id="12" name="Lay0"/>
          <p:cNvSpPr/>
          <p:nvPr/>
        </p:nvSpPr>
        <p:spPr>
          <a:xfrm>
            <a:off x="548640" y="2103120"/>
            <a:ext cx="11094720" cy="691286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LayBar0"/>
          <p:cNvSpPr/>
          <p:nvPr/>
        </p:nvSpPr>
        <p:spPr>
          <a:xfrm>
            <a:off x="548640" y="2103120"/>
            <a:ext cx="164592" cy="69128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4" name="LayN0"/>
          <p:cNvSpPr txBox="1"/>
          <p:nvPr/>
        </p:nvSpPr>
        <p:spPr>
          <a:xfrm>
            <a:off x="1005840" y="2148840"/>
            <a:ext cx="237744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500" b="1" dirty="0">
                <a:solidFill>
                  <a:srgbClr val="0F2A2E"/>
                </a:solidFill>
                <a:latin typeface="Calibri"/>
              </a:rPr>
              <a:t>PRESENTATION</a:t>
            </a:r>
          </a:p>
        </p:txBody>
      </p:sp>
      <p:sp>
        <p:nvSpPr>
          <p:cNvPr id="15" name="LayD0"/>
          <p:cNvSpPr txBox="1"/>
          <p:nvPr/>
        </p:nvSpPr>
        <p:spPr>
          <a:xfrm>
            <a:off x="3566160" y="2148840"/>
            <a:ext cx="365760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alibri"/>
              </a:rPr>
              <a:t>Responsive web frontend</a:t>
            </a:r>
          </a:p>
        </p:txBody>
      </p:sp>
      <p:sp>
        <p:nvSpPr>
          <p:cNvPr id="16" name="LayT0"/>
          <p:cNvSpPr txBox="1"/>
          <p:nvPr/>
        </p:nvSpPr>
        <p:spPr>
          <a:xfrm>
            <a:off x="7406640" y="2148840"/>
            <a:ext cx="411480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200" b="1" dirty="0">
                <a:solidFill>
                  <a:srgbClr val="FF6F61"/>
                </a:solidFill>
                <a:latin typeface="Calibri"/>
              </a:rPr>
              <a:t>HTML5 · CSS3 · JavaScript</a:t>
            </a:r>
          </a:p>
        </p:txBody>
      </p:sp>
      <p:sp>
        <p:nvSpPr>
          <p:cNvPr id="17" name="Lay1"/>
          <p:cNvSpPr/>
          <p:nvPr/>
        </p:nvSpPr>
        <p:spPr>
          <a:xfrm>
            <a:off x="548640" y="2958998"/>
            <a:ext cx="11094720" cy="691286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8" name="LayBar1"/>
          <p:cNvSpPr/>
          <p:nvPr/>
        </p:nvSpPr>
        <p:spPr>
          <a:xfrm>
            <a:off x="548640" y="2958998"/>
            <a:ext cx="164592" cy="69128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9" name="LayN1"/>
          <p:cNvSpPr txBox="1"/>
          <p:nvPr/>
        </p:nvSpPr>
        <p:spPr>
          <a:xfrm>
            <a:off x="1005840" y="3004718"/>
            <a:ext cx="237744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500" b="1" dirty="0">
                <a:solidFill>
                  <a:srgbClr val="0F2A2E"/>
                </a:solidFill>
                <a:latin typeface="Calibri"/>
              </a:rPr>
              <a:t>APPLICATION</a:t>
            </a:r>
          </a:p>
        </p:txBody>
      </p:sp>
      <p:sp>
        <p:nvSpPr>
          <p:cNvPr id="20" name="LayD1"/>
          <p:cNvSpPr txBox="1"/>
          <p:nvPr/>
        </p:nvSpPr>
        <p:spPr>
          <a:xfrm>
            <a:off x="3566160" y="3004718"/>
            <a:ext cx="365760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alibri"/>
              </a:rPr>
              <a:t>REST API server</a:t>
            </a:r>
          </a:p>
        </p:txBody>
      </p:sp>
      <p:sp>
        <p:nvSpPr>
          <p:cNvPr id="21" name="LayT1"/>
          <p:cNvSpPr txBox="1"/>
          <p:nvPr/>
        </p:nvSpPr>
        <p:spPr>
          <a:xfrm>
            <a:off x="7406640" y="3004718"/>
            <a:ext cx="411480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200" b="1" dirty="0">
                <a:solidFill>
                  <a:srgbClr val="FF6F61"/>
                </a:solidFill>
                <a:latin typeface="Calibri"/>
              </a:rPr>
              <a:t>Node.js · Express.js</a:t>
            </a:r>
          </a:p>
        </p:txBody>
      </p:sp>
      <p:sp>
        <p:nvSpPr>
          <p:cNvPr id="22" name="Lay2"/>
          <p:cNvSpPr/>
          <p:nvPr/>
        </p:nvSpPr>
        <p:spPr>
          <a:xfrm>
            <a:off x="548640" y="3814876"/>
            <a:ext cx="11094720" cy="691286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3" name="LayBar2"/>
          <p:cNvSpPr/>
          <p:nvPr/>
        </p:nvSpPr>
        <p:spPr>
          <a:xfrm>
            <a:off x="548640" y="3814876"/>
            <a:ext cx="164592" cy="69128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4" name="LayN2"/>
          <p:cNvSpPr txBox="1"/>
          <p:nvPr/>
        </p:nvSpPr>
        <p:spPr>
          <a:xfrm>
            <a:off x="1005840" y="3860596"/>
            <a:ext cx="237744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500" b="1" dirty="0">
                <a:solidFill>
                  <a:srgbClr val="0F2A2E"/>
                </a:solidFill>
                <a:latin typeface="Calibri"/>
              </a:rPr>
              <a:t>INTELLIGENCE</a:t>
            </a:r>
          </a:p>
        </p:txBody>
      </p:sp>
      <p:sp>
        <p:nvSpPr>
          <p:cNvPr id="25" name="LayD2"/>
          <p:cNvSpPr txBox="1"/>
          <p:nvPr/>
        </p:nvSpPr>
        <p:spPr>
          <a:xfrm>
            <a:off x="3566160" y="3860596"/>
            <a:ext cx="365760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alibri"/>
              </a:rPr>
              <a:t>AI engine + ranking algorithm</a:t>
            </a:r>
          </a:p>
        </p:txBody>
      </p:sp>
      <p:sp>
        <p:nvSpPr>
          <p:cNvPr id="26" name="LayT2"/>
          <p:cNvSpPr txBox="1"/>
          <p:nvPr/>
        </p:nvSpPr>
        <p:spPr>
          <a:xfrm>
            <a:off x="7406640" y="3860596"/>
            <a:ext cx="411480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200" b="1" dirty="0">
                <a:solidFill>
                  <a:srgbClr val="FF6F61"/>
                </a:solidFill>
                <a:latin typeface="Calibri"/>
              </a:rPr>
              <a:t>Recommendation logic</a:t>
            </a:r>
          </a:p>
        </p:txBody>
      </p:sp>
      <p:sp>
        <p:nvSpPr>
          <p:cNvPr id="27" name="Lay3"/>
          <p:cNvSpPr/>
          <p:nvPr/>
        </p:nvSpPr>
        <p:spPr>
          <a:xfrm>
            <a:off x="548640" y="4670754"/>
            <a:ext cx="11094720" cy="691286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8" name="LayBar3"/>
          <p:cNvSpPr/>
          <p:nvPr/>
        </p:nvSpPr>
        <p:spPr>
          <a:xfrm>
            <a:off x="548640" y="4670754"/>
            <a:ext cx="164592" cy="69128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9" name="LayN3"/>
          <p:cNvSpPr txBox="1"/>
          <p:nvPr/>
        </p:nvSpPr>
        <p:spPr>
          <a:xfrm>
            <a:off x="1005840" y="4716474"/>
            <a:ext cx="237744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500" b="1" dirty="0">
                <a:solidFill>
                  <a:srgbClr val="0F2A2E"/>
                </a:solidFill>
                <a:latin typeface="Calibri"/>
              </a:rPr>
              <a:t>INTEGRATION</a:t>
            </a:r>
          </a:p>
        </p:txBody>
      </p:sp>
      <p:sp>
        <p:nvSpPr>
          <p:cNvPr id="30" name="LayD3"/>
          <p:cNvSpPr txBox="1"/>
          <p:nvPr/>
        </p:nvSpPr>
        <p:spPr>
          <a:xfrm>
            <a:off x="3566160" y="4716474"/>
            <a:ext cx="365760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alibri"/>
              </a:rPr>
              <a:t>External services</a:t>
            </a:r>
          </a:p>
        </p:txBody>
      </p:sp>
      <p:sp>
        <p:nvSpPr>
          <p:cNvPr id="31" name="LayT3"/>
          <p:cNvSpPr txBox="1"/>
          <p:nvPr/>
        </p:nvSpPr>
        <p:spPr>
          <a:xfrm>
            <a:off x="7406640" y="4716474"/>
            <a:ext cx="411480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200" b="1" dirty="0">
                <a:solidFill>
                  <a:srgbClr val="FF6F61"/>
                </a:solidFill>
                <a:latin typeface="Calibri"/>
              </a:rPr>
              <a:t>Google Maps · Places · WhatsApp</a:t>
            </a:r>
          </a:p>
        </p:txBody>
      </p:sp>
      <p:sp>
        <p:nvSpPr>
          <p:cNvPr id="32" name="Lay4"/>
          <p:cNvSpPr/>
          <p:nvPr/>
        </p:nvSpPr>
        <p:spPr>
          <a:xfrm>
            <a:off x="548640" y="5526632"/>
            <a:ext cx="11094720" cy="691286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3" name="LayBar4"/>
          <p:cNvSpPr/>
          <p:nvPr/>
        </p:nvSpPr>
        <p:spPr>
          <a:xfrm>
            <a:off x="548640" y="5526632"/>
            <a:ext cx="164592" cy="69128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4" name="LayN4"/>
          <p:cNvSpPr txBox="1"/>
          <p:nvPr/>
        </p:nvSpPr>
        <p:spPr>
          <a:xfrm>
            <a:off x="1005840" y="5572352"/>
            <a:ext cx="237744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500" b="1" dirty="0">
                <a:solidFill>
                  <a:srgbClr val="0F2A2E"/>
                </a:solidFill>
                <a:latin typeface="Calibri"/>
              </a:rPr>
              <a:t>DATA</a:t>
            </a:r>
          </a:p>
        </p:txBody>
      </p:sp>
      <p:sp>
        <p:nvSpPr>
          <p:cNvPr id="35" name="LayD4"/>
          <p:cNvSpPr txBox="1"/>
          <p:nvPr/>
        </p:nvSpPr>
        <p:spPr>
          <a:xfrm>
            <a:off x="3566160" y="5572352"/>
            <a:ext cx="365760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alibri"/>
              </a:rPr>
              <a:t>Persistent storage</a:t>
            </a:r>
          </a:p>
        </p:txBody>
      </p:sp>
      <p:sp>
        <p:nvSpPr>
          <p:cNvPr id="36" name="LayT4"/>
          <p:cNvSpPr txBox="1"/>
          <p:nvPr/>
        </p:nvSpPr>
        <p:spPr>
          <a:xfrm>
            <a:off x="7406640" y="5572352"/>
            <a:ext cx="4114800" cy="691286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l"/>
            <a:r>
              <a:rPr lang="en-US" sz="1200" b="1" dirty="0">
                <a:solidFill>
                  <a:srgbClr val="FF6F61"/>
                </a:solidFill>
                <a:latin typeface="Calibri"/>
              </a:rPr>
              <a:t>MongoDB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Technologies Used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09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TC0"/>
          <p:cNvSpPr/>
          <p:nvPr/>
        </p:nvSpPr>
        <p:spPr>
          <a:xfrm>
            <a:off x="548640" y="1691640"/>
            <a:ext cx="3545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2" name="TCB0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TCN0"/>
          <p:cNvSpPr txBox="1"/>
          <p:nvPr/>
        </p:nvSpPr>
        <p:spPr>
          <a:xfrm>
            <a:off x="822960" y="2020824"/>
            <a:ext cx="411480" cy="36576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CG0"/>
          <p:cNvSpPr txBox="1"/>
          <p:nvPr/>
        </p:nvSpPr>
        <p:spPr>
          <a:xfrm>
            <a:off x="1417320" y="1965960"/>
            <a:ext cx="254000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0F2A2E"/>
                </a:solidFill>
                <a:latin typeface="Calibri"/>
              </a:rPr>
              <a:t>Frontend</a:t>
            </a:r>
          </a:p>
        </p:txBody>
      </p:sp>
      <p:sp>
        <p:nvSpPr>
          <p:cNvPr id="15" name="TCI0"/>
          <p:cNvSpPr txBox="1"/>
          <p:nvPr/>
        </p:nvSpPr>
        <p:spPr>
          <a:xfrm>
            <a:off x="914400" y="2606040"/>
            <a:ext cx="2997200" cy="11430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HTML5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CSS3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JavaScript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Responsive UI</a:t>
            </a:r>
          </a:p>
        </p:txBody>
      </p:sp>
      <p:sp>
        <p:nvSpPr>
          <p:cNvPr id="16" name="TC1"/>
          <p:cNvSpPr/>
          <p:nvPr/>
        </p:nvSpPr>
        <p:spPr>
          <a:xfrm>
            <a:off x="4323080" y="1691640"/>
            <a:ext cx="3545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7" name="TCB1"/>
          <p:cNvSpPr/>
          <p:nvPr/>
        </p:nvSpPr>
        <p:spPr>
          <a:xfrm>
            <a:off x="4597400" y="1965960"/>
            <a:ext cx="411480" cy="41148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8" name="TCN1"/>
          <p:cNvSpPr txBox="1"/>
          <p:nvPr/>
        </p:nvSpPr>
        <p:spPr>
          <a:xfrm>
            <a:off x="4597400" y="2020824"/>
            <a:ext cx="411480" cy="36576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CG1"/>
          <p:cNvSpPr txBox="1"/>
          <p:nvPr/>
        </p:nvSpPr>
        <p:spPr>
          <a:xfrm>
            <a:off x="5191760" y="1965960"/>
            <a:ext cx="254000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0F2A2E"/>
                </a:solidFill>
                <a:latin typeface="Calibri"/>
              </a:rPr>
              <a:t>Backend</a:t>
            </a:r>
          </a:p>
        </p:txBody>
      </p:sp>
      <p:sp>
        <p:nvSpPr>
          <p:cNvPr id="20" name="TCI1"/>
          <p:cNvSpPr txBox="1"/>
          <p:nvPr/>
        </p:nvSpPr>
        <p:spPr>
          <a:xfrm>
            <a:off x="4688840" y="2606040"/>
            <a:ext cx="2997200" cy="11430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Node.js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Express.js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REST API</a:t>
            </a:r>
          </a:p>
        </p:txBody>
      </p:sp>
      <p:sp>
        <p:nvSpPr>
          <p:cNvPr id="21" name="TC2"/>
          <p:cNvSpPr/>
          <p:nvPr/>
        </p:nvSpPr>
        <p:spPr>
          <a:xfrm>
            <a:off x="8097520" y="1691640"/>
            <a:ext cx="3545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2" name="TCB2"/>
          <p:cNvSpPr/>
          <p:nvPr/>
        </p:nvSpPr>
        <p:spPr>
          <a:xfrm>
            <a:off x="8371840" y="1965960"/>
            <a:ext cx="411480" cy="411480"/>
          </a:xfrm>
          <a:prstGeom prst="ellipse">
            <a:avLst/>
          </a:prstGeom>
          <a:solidFill>
            <a:srgbClr val="0F2A2E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3" name="TCN2"/>
          <p:cNvSpPr txBox="1"/>
          <p:nvPr/>
        </p:nvSpPr>
        <p:spPr>
          <a:xfrm>
            <a:off x="8371840" y="2020824"/>
            <a:ext cx="411480" cy="36576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CG2"/>
          <p:cNvSpPr txBox="1"/>
          <p:nvPr/>
        </p:nvSpPr>
        <p:spPr>
          <a:xfrm>
            <a:off x="8966200" y="1965960"/>
            <a:ext cx="254000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0F2A2E"/>
                </a:solidFill>
                <a:latin typeface="Calibri"/>
              </a:rPr>
              <a:t>Database</a:t>
            </a:r>
          </a:p>
        </p:txBody>
      </p:sp>
      <p:sp>
        <p:nvSpPr>
          <p:cNvPr id="25" name="TCI2"/>
          <p:cNvSpPr txBox="1"/>
          <p:nvPr/>
        </p:nvSpPr>
        <p:spPr>
          <a:xfrm>
            <a:off x="8463280" y="2606040"/>
            <a:ext cx="2997200" cy="11430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MongoDB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Mongoose ODM</a:t>
            </a:r>
          </a:p>
        </p:txBody>
      </p:sp>
      <p:sp>
        <p:nvSpPr>
          <p:cNvPr id="26" name="TC3"/>
          <p:cNvSpPr/>
          <p:nvPr/>
        </p:nvSpPr>
        <p:spPr>
          <a:xfrm>
            <a:off x="548640" y="4069080"/>
            <a:ext cx="3545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7" name="TCB3"/>
          <p:cNvSpPr/>
          <p:nvPr/>
        </p:nvSpPr>
        <p:spPr>
          <a:xfrm>
            <a:off x="822960" y="4343400"/>
            <a:ext cx="411480" cy="41148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8" name="TCN3"/>
          <p:cNvSpPr txBox="1"/>
          <p:nvPr/>
        </p:nvSpPr>
        <p:spPr>
          <a:xfrm>
            <a:off x="822960" y="4398264"/>
            <a:ext cx="411480" cy="36576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9" name="TCG3"/>
          <p:cNvSpPr txBox="1"/>
          <p:nvPr/>
        </p:nvSpPr>
        <p:spPr>
          <a:xfrm>
            <a:off x="1417320" y="4343400"/>
            <a:ext cx="254000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0F2A2E"/>
                </a:solidFill>
                <a:latin typeface="Calibri"/>
              </a:rPr>
              <a:t>APIs &amp; Services</a:t>
            </a:r>
          </a:p>
        </p:txBody>
      </p:sp>
      <p:sp>
        <p:nvSpPr>
          <p:cNvPr id="30" name="TCI3"/>
          <p:cNvSpPr txBox="1"/>
          <p:nvPr/>
        </p:nvSpPr>
        <p:spPr>
          <a:xfrm>
            <a:off x="914400" y="4983480"/>
            <a:ext cx="2997200" cy="11430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Google Maps API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Google Places API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WhatsApp API</a:t>
            </a:r>
          </a:p>
        </p:txBody>
      </p:sp>
      <p:sp>
        <p:nvSpPr>
          <p:cNvPr id="31" name="TC4"/>
          <p:cNvSpPr/>
          <p:nvPr/>
        </p:nvSpPr>
        <p:spPr>
          <a:xfrm>
            <a:off x="4323080" y="4069080"/>
            <a:ext cx="3545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2" name="TCB4"/>
          <p:cNvSpPr/>
          <p:nvPr/>
        </p:nvSpPr>
        <p:spPr>
          <a:xfrm>
            <a:off x="4597400" y="4343400"/>
            <a:ext cx="411480" cy="411480"/>
          </a:xfrm>
          <a:prstGeom prst="ellipse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3" name="TCN4"/>
          <p:cNvSpPr txBox="1"/>
          <p:nvPr/>
        </p:nvSpPr>
        <p:spPr>
          <a:xfrm>
            <a:off x="4597400" y="4398264"/>
            <a:ext cx="411480" cy="36576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TCG4"/>
          <p:cNvSpPr txBox="1"/>
          <p:nvPr/>
        </p:nvSpPr>
        <p:spPr>
          <a:xfrm>
            <a:off x="5191760" y="4343400"/>
            <a:ext cx="254000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0F2A2E"/>
                </a:solidFill>
                <a:latin typeface="Calibri"/>
              </a:rPr>
              <a:t>Intelligence</a:t>
            </a:r>
          </a:p>
        </p:txBody>
      </p:sp>
      <p:sp>
        <p:nvSpPr>
          <p:cNvPr id="35" name="TCI4"/>
          <p:cNvSpPr txBox="1"/>
          <p:nvPr/>
        </p:nvSpPr>
        <p:spPr>
          <a:xfrm>
            <a:off x="4688840" y="4983480"/>
            <a:ext cx="2997200" cy="11430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AI Recommendation Engine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Ranking Algorithm</a:t>
            </a:r>
          </a:p>
        </p:txBody>
      </p:sp>
      <p:sp>
        <p:nvSpPr>
          <p:cNvPr id="36" name="TC5"/>
          <p:cNvSpPr/>
          <p:nvPr/>
        </p:nvSpPr>
        <p:spPr>
          <a:xfrm>
            <a:off x="8097520" y="4069080"/>
            <a:ext cx="3545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7" name="TCB5"/>
          <p:cNvSpPr/>
          <p:nvPr/>
        </p:nvSpPr>
        <p:spPr>
          <a:xfrm>
            <a:off x="8371840" y="4343400"/>
            <a:ext cx="411480" cy="411480"/>
          </a:xfrm>
          <a:prstGeom prst="ellipse">
            <a:avLst/>
          </a:prstGeom>
          <a:solidFill>
            <a:srgbClr val="0F2A2E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8" name="TCN5"/>
          <p:cNvSpPr txBox="1"/>
          <p:nvPr/>
        </p:nvSpPr>
        <p:spPr>
          <a:xfrm>
            <a:off x="8371840" y="4398264"/>
            <a:ext cx="411480" cy="36576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9" name="TCG5"/>
          <p:cNvSpPr txBox="1"/>
          <p:nvPr/>
        </p:nvSpPr>
        <p:spPr>
          <a:xfrm>
            <a:off x="8966200" y="4343400"/>
            <a:ext cx="254000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800" b="1" dirty="0">
                <a:solidFill>
                  <a:srgbClr val="0F2A2E"/>
                </a:solidFill>
                <a:latin typeface="Calibri"/>
              </a:rPr>
              <a:t>Tooling</a:t>
            </a:r>
          </a:p>
        </p:txBody>
      </p:sp>
      <p:sp>
        <p:nvSpPr>
          <p:cNvPr id="40" name="TCI5"/>
          <p:cNvSpPr txBox="1"/>
          <p:nvPr/>
        </p:nvSpPr>
        <p:spPr>
          <a:xfrm>
            <a:off x="8463280" y="4983480"/>
            <a:ext cx="2997200" cy="11430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Git &amp; GitHub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VS Code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Postman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Google Maps &amp; Places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10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PhotoBG"/>
          <p:cNvSpPr/>
          <p:nvPr/>
        </p:nvSpPr>
        <p:spPr>
          <a:xfrm>
            <a:off x="475488" y="1709928"/>
            <a:ext cx="4901184" cy="4169664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pic>
        <p:nvPicPr>
          <p:cNvPr id="12" name="Photo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48640" y="1783080"/>
            <a:ext cx="4754880" cy="4023360"/>
          </a:xfrm>
          <a:prstGeom prst="rect">
            <a:avLst/>
          </a:prstGeom>
        </p:spPr>
      </p:pic>
      <p:sp>
        <p:nvSpPr>
          <p:cNvPr id="13" name="Lead"/>
          <p:cNvSpPr txBox="1"/>
          <p:nvPr/>
        </p:nvSpPr>
        <p:spPr>
          <a:xfrm>
            <a:off x="5760720" y="1783080"/>
            <a:ext cx="588264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0D7B6F"/>
                </a:solidFill>
                <a:latin typeface="Calibri"/>
              </a:rPr>
              <a:t>Real-world location intelligence behind every recommendation.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5760720" y="2697480"/>
            <a:ext cx="5882640" cy="3108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lnSpc>
                <a:spcPct val="13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Google Places supplies attractions, restaurants, cafes, ratings.</a:t>
            </a:r>
          </a:p>
          <a:p>
            <a:pPr algn="l" indent="-228600" marL="228600">
              <a:lnSpc>
                <a:spcPct val="13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Google Maps renders an interactive map with custom markers.</a:t>
            </a:r>
          </a:p>
          <a:p>
            <a:pPr algn="l" indent="-228600" marL="228600">
              <a:lnSpc>
                <a:spcPct val="13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Distance Matrix calculates travel time between every two stops.</a:t>
            </a:r>
          </a:p>
          <a:p>
            <a:pPr algn="l" indent="-228600" marL="228600">
              <a:lnSpc>
                <a:spcPct val="13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Photos, opening hours, and reviews enrich each place.</a:t>
            </a:r>
          </a:p>
          <a:p>
            <a:pPr algn="l" indent="-228600" marL="228600">
              <a:lnSpc>
                <a:spcPct val="13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Geocoding turns destinations into precise coordinates.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Place Ranking Algorithm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11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Lead"/>
          <p:cNvSpPr txBox="1"/>
          <p:nvPr/>
        </p:nvSpPr>
        <p:spPr>
          <a:xfrm>
            <a:off x="548640" y="1554480"/>
            <a:ext cx="11094720" cy="7315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800" i="1" dirty="0">
                <a:solidFill>
                  <a:srgbClr val="0D7B6F"/>
                </a:solidFill>
                <a:latin typeface="Calibri"/>
              </a:rPr>
              <a:t>A weighted scoring model that orders places by real-user fit.</a:t>
            </a:r>
          </a:p>
        </p:txBody>
      </p:sp>
      <p:sp>
        <p:nvSpPr>
          <p:cNvPr id="12" name="Card0"/>
          <p:cNvSpPr/>
          <p:nvPr/>
        </p:nvSpPr>
        <p:spPr>
          <a:xfrm>
            <a:off x="548640" y="246888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Dot0"/>
          <p:cNvSpPr/>
          <p:nvPr/>
        </p:nvSpPr>
        <p:spPr>
          <a:xfrm>
            <a:off x="777240" y="274320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4" name="DotN0"/>
          <p:cNvSpPr txBox="1"/>
          <p:nvPr/>
        </p:nvSpPr>
        <p:spPr>
          <a:xfrm>
            <a:off x="777240" y="279806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Lab0"/>
          <p:cNvSpPr txBox="1"/>
          <p:nvPr/>
        </p:nvSpPr>
        <p:spPr>
          <a:xfrm>
            <a:off x="1234440" y="269748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Inputs</a:t>
            </a:r>
          </a:p>
        </p:txBody>
      </p:sp>
      <p:sp>
        <p:nvSpPr>
          <p:cNvPr id="16" name="Bd0"/>
          <p:cNvSpPr txBox="1"/>
          <p:nvPr/>
        </p:nvSpPr>
        <p:spPr>
          <a:xfrm>
            <a:off x="1234440" y="310896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Budget level, trip type, traveler count, and place metadata.</a:t>
            </a:r>
          </a:p>
        </p:txBody>
      </p:sp>
      <p:sp>
        <p:nvSpPr>
          <p:cNvPr id="17" name="Card1"/>
          <p:cNvSpPr/>
          <p:nvPr/>
        </p:nvSpPr>
        <p:spPr>
          <a:xfrm>
            <a:off x="6233160" y="246888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8" name="Dot1"/>
          <p:cNvSpPr/>
          <p:nvPr/>
        </p:nvSpPr>
        <p:spPr>
          <a:xfrm>
            <a:off x="6461760" y="274320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9" name="DotN1"/>
          <p:cNvSpPr txBox="1"/>
          <p:nvPr/>
        </p:nvSpPr>
        <p:spPr>
          <a:xfrm>
            <a:off x="6461760" y="279806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Lab1"/>
          <p:cNvSpPr txBox="1"/>
          <p:nvPr/>
        </p:nvSpPr>
        <p:spPr>
          <a:xfrm>
            <a:off x="6918960" y="269748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Scoring</a:t>
            </a:r>
          </a:p>
        </p:txBody>
      </p:sp>
      <p:sp>
        <p:nvSpPr>
          <p:cNvPr id="21" name="Bd1"/>
          <p:cNvSpPr txBox="1"/>
          <p:nvPr/>
        </p:nvSpPr>
        <p:spPr>
          <a:xfrm>
            <a:off x="6918960" y="310896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Each place is scored on relevance, rating, distance, price.</a:t>
            </a:r>
          </a:p>
        </p:txBody>
      </p:sp>
      <p:sp>
        <p:nvSpPr>
          <p:cNvPr id="22" name="Card2"/>
          <p:cNvSpPr/>
          <p:nvPr/>
        </p:nvSpPr>
        <p:spPr>
          <a:xfrm>
            <a:off x="548640" y="381000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3" name="Dot2"/>
          <p:cNvSpPr/>
          <p:nvPr/>
        </p:nvSpPr>
        <p:spPr>
          <a:xfrm>
            <a:off x="777240" y="408432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4" name="DotN2"/>
          <p:cNvSpPr txBox="1"/>
          <p:nvPr/>
        </p:nvSpPr>
        <p:spPr>
          <a:xfrm>
            <a:off x="777240" y="413918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Lab2"/>
          <p:cNvSpPr txBox="1"/>
          <p:nvPr/>
        </p:nvSpPr>
        <p:spPr>
          <a:xfrm>
            <a:off x="1234440" y="403860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Adaptation</a:t>
            </a:r>
          </a:p>
        </p:txBody>
      </p:sp>
      <p:sp>
        <p:nvSpPr>
          <p:cNvPr id="26" name="Bd2"/>
          <p:cNvSpPr txBox="1"/>
          <p:nvPr/>
        </p:nvSpPr>
        <p:spPr>
          <a:xfrm>
            <a:off x="1234440" y="445008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Weights shift dynamically with the chosen trip type.</a:t>
            </a:r>
          </a:p>
        </p:txBody>
      </p:sp>
      <p:sp>
        <p:nvSpPr>
          <p:cNvPr id="27" name="Card3"/>
          <p:cNvSpPr/>
          <p:nvPr/>
        </p:nvSpPr>
        <p:spPr>
          <a:xfrm>
            <a:off x="6233160" y="381000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8" name="Dot3"/>
          <p:cNvSpPr/>
          <p:nvPr/>
        </p:nvSpPr>
        <p:spPr>
          <a:xfrm>
            <a:off x="6461760" y="408432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9" name="DotN3"/>
          <p:cNvSpPr txBox="1"/>
          <p:nvPr/>
        </p:nvSpPr>
        <p:spPr>
          <a:xfrm>
            <a:off x="6461760" y="413918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Lab3"/>
          <p:cNvSpPr txBox="1"/>
          <p:nvPr/>
        </p:nvSpPr>
        <p:spPr>
          <a:xfrm>
            <a:off x="6918960" y="403860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Selection</a:t>
            </a:r>
          </a:p>
        </p:txBody>
      </p:sp>
      <p:sp>
        <p:nvSpPr>
          <p:cNvPr id="31" name="Bd3"/>
          <p:cNvSpPr txBox="1"/>
          <p:nvPr/>
        </p:nvSpPr>
        <p:spPr>
          <a:xfrm>
            <a:off x="6918960" y="445008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Top-ranked places fill the itinerary by proximity.</a:t>
            </a:r>
          </a:p>
        </p:txBody>
      </p:sp>
      <p:sp>
        <p:nvSpPr>
          <p:cNvPr id="32" name="Card4"/>
          <p:cNvSpPr/>
          <p:nvPr/>
        </p:nvSpPr>
        <p:spPr>
          <a:xfrm>
            <a:off x="548640" y="515112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3" name="Dot4"/>
          <p:cNvSpPr/>
          <p:nvPr/>
        </p:nvSpPr>
        <p:spPr>
          <a:xfrm>
            <a:off x="777240" y="542544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4" name="DotN4"/>
          <p:cNvSpPr txBox="1"/>
          <p:nvPr/>
        </p:nvSpPr>
        <p:spPr>
          <a:xfrm>
            <a:off x="777240" y="548030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5" name="Lab4"/>
          <p:cNvSpPr txBox="1"/>
          <p:nvPr/>
        </p:nvSpPr>
        <p:spPr>
          <a:xfrm>
            <a:off x="1234440" y="537972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Alternatives</a:t>
            </a:r>
          </a:p>
        </p:txBody>
      </p:sp>
      <p:sp>
        <p:nvSpPr>
          <p:cNvPr id="36" name="Bd4"/>
          <p:cNvSpPr txBox="1"/>
          <p:nvPr/>
        </p:nvSpPr>
        <p:spPr>
          <a:xfrm>
            <a:off x="1234440" y="579120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Lower-ranked items become budget-aware suggestions.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AI Recommendation Engine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12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PhotoBG"/>
          <p:cNvSpPr/>
          <p:nvPr/>
        </p:nvSpPr>
        <p:spPr>
          <a:xfrm>
            <a:off x="6815328" y="1709928"/>
            <a:ext cx="4901184" cy="4169664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pic>
        <p:nvPicPr>
          <p:cNvPr id="12" name="Photo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888480" y="1783080"/>
            <a:ext cx="4754880" cy="4023360"/>
          </a:xfrm>
          <a:prstGeom prst="rect">
            <a:avLst/>
          </a:prstGeom>
        </p:spPr>
      </p:pic>
      <p:sp>
        <p:nvSpPr>
          <p:cNvPr id="13" name="Lead"/>
          <p:cNvSpPr txBox="1"/>
          <p:nvPr/>
        </p:nvSpPr>
        <p:spPr>
          <a:xfrm>
            <a:off x="548640" y="1783080"/>
            <a:ext cx="5882640" cy="822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0D7B6F"/>
                </a:solidFill>
                <a:latin typeface="Calibri"/>
              </a:rPr>
              <a:t>An intelligent layer that personalizes every itinerary.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548640" y="2697480"/>
            <a:ext cx="5882640" cy="31089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 indent="-228600" marL="228600">
              <a:lnSpc>
                <a:spcPct val="13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Learns from user preferences, trip type, and prior trips.</a:t>
            </a:r>
          </a:p>
          <a:p>
            <a:pPr algn="l" indent="-228600" marL="228600">
              <a:lnSpc>
                <a:spcPct val="13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Generates context-aware suggestions for places, food, activities.</a:t>
            </a:r>
          </a:p>
          <a:p>
            <a:pPr algn="l" indent="-228600" marL="228600">
              <a:lnSpc>
                <a:spcPct val="13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Balances variety, distance, and budget across each day.</a:t>
            </a:r>
          </a:p>
          <a:p>
            <a:pPr algn="l" indent="-228600" marL="228600">
              <a:lnSpc>
                <a:spcPct val="13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Produces natural-language descriptions for every stop.</a:t>
            </a:r>
          </a:p>
          <a:p>
            <a:pPr algn="l" indent="-228600" marL="228600">
              <a:lnSpc>
                <a:spcPct val="130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Refines results continuously as more user data is collected.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WhatsApp Integration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13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Lead"/>
          <p:cNvSpPr txBox="1"/>
          <p:nvPr/>
        </p:nvSpPr>
        <p:spPr>
          <a:xfrm>
            <a:off x="548640" y="1554480"/>
            <a:ext cx="11094720" cy="7315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800" i="1" dirty="0">
                <a:solidFill>
                  <a:srgbClr val="0D7B6F"/>
                </a:solidFill>
                <a:latin typeface="Calibri"/>
              </a:rPr>
              <a:t>Bringing the trip into the user's most-used messaging app.</a:t>
            </a:r>
          </a:p>
        </p:txBody>
      </p:sp>
      <p:sp>
        <p:nvSpPr>
          <p:cNvPr id="12" name="Card0"/>
          <p:cNvSpPr/>
          <p:nvPr/>
        </p:nvSpPr>
        <p:spPr>
          <a:xfrm>
            <a:off x="548640" y="246888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Dot0"/>
          <p:cNvSpPr/>
          <p:nvPr/>
        </p:nvSpPr>
        <p:spPr>
          <a:xfrm>
            <a:off x="777240" y="274320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4" name="DotN0"/>
          <p:cNvSpPr txBox="1"/>
          <p:nvPr/>
        </p:nvSpPr>
        <p:spPr>
          <a:xfrm>
            <a:off x="777240" y="279806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Lab0"/>
          <p:cNvSpPr txBox="1"/>
          <p:nvPr/>
        </p:nvSpPr>
        <p:spPr>
          <a:xfrm>
            <a:off x="1234440" y="269748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Reserve</a:t>
            </a:r>
          </a:p>
        </p:txBody>
      </p:sp>
      <p:sp>
        <p:nvSpPr>
          <p:cNvPr id="16" name="Bd0"/>
          <p:cNvSpPr txBox="1"/>
          <p:nvPr/>
        </p:nvSpPr>
        <p:spPr>
          <a:xfrm>
            <a:off x="1234440" y="310896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Send reservation requests to restaurants and venues.</a:t>
            </a:r>
          </a:p>
        </p:txBody>
      </p:sp>
      <p:sp>
        <p:nvSpPr>
          <p:cNvPr id="17" name="Card1"/>
          <p:cNvSpPr/>
          <p:nvPr/>
        </p:nvSpPr>
        <p:spPr>
          <a:xfrm>
            <a:off x="6233160" y="246888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8" name="Dot1"/>
          <p:cNvSpPr/>
          <p:nvPr/>
        </p:nvSpPr>
        <p:spPr>
          <a:xfrm>
            <a:off x="6461760" y="274320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9" name="DotN1"/>
          <p:cNvSpPr txBox="1"/>
          <p:nvPr/>
        </p:nvSpPr>
        <p:spPr>
          <a:xfrm>
            <a:off x="6461760" y="279806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Lab1"/>
          <p:cNvSpPr txBox="1"/>
          <p:nvPr/>
        </p:nvSpPr>
        <p:spPr>
          <a:xfrm>
            <a:off x="6918960" y="269748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Remind</a:t>
            </a:r>
          </a:p>
        </p:txBody>
      </p:sp>
      <p:sp>
        <p:nvSpPr>
          <p:cNvPr id="21" name="Bd1"/>
          <p:cNvSpPr txBox="1"/>
          <p:nvPr/>
        </p:nvSpPr>
        <p:spPr>
          <a:xfrm>
            <a:off x="6918960" y="310896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Receive automated reminders before each scheduled activity.</a:t>
            </a:r>
          </a:p>
        </p:txBody>
      </p:sp>
      <p:sp>
        <p:nvSpPr>
          <p:cNvPr id="22" name="Card2"/>
          <p:cNvSpPr/>
          <p:nvPr/>
        </p:nvSpPr>
        <p:spPr>
          <a:xfrm>
            <a:off x="548640" y="381000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3" name="Dot2"/>
          <p:cNvSpPr/>
          <p:nvPr/>
        </p:nvSpPr>
        <p:spPr>
          <a:xfrm>
            <a:off x="777240" y="408432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4" name="DotN2"/>
          <p:cNvSpPr txBox="1"/>
          <p:nvPr/>
        </p:nvSpPr>
        <p:spPr>
          <a:xfrm>
            <a:off x="777240" y="413918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Lab2"/>
          <p:cNvSpPr txBox="1"/>
          <p:nvPr/>
        </p:nvSpPr>
        <p:spPr>
          <a:xfrm>
            <a:off x="1234440" y="403860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Share</a:t>
            </a:r>
          </a:p>
        </p:txBody>
      </p:sp>
      <p:sp>
        <p:nvSpPr>
          <p:cNvPr id="26" name="Bd2"/>
          <p:cNvSpPr txBox="1"/>
          <p:nvPr/>
        </p:nvSpPr>
        <p:spPr>
          <a:xfrm>
            <a:off x="1234440" y="445008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Send the full itinerary to family or travel companions instantly.</a:t>
            </a:r>
          </a:p>
        </p:txBody>
      </p:sp>
      <p:sp>
        <p:nvSpPr>
          <p:cNvPr id="27" name="Card3"/>
          <p:cNvSpPr/>
          <p:nvPr/>
        </p:nvSpPr>
        <p:spPr>
          <a:xfrm>
            <a:off x="6233160" y="381000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8" name="Dot3"/>
          <p:cNvSpPr/>
          <p:nvPr/>
        </p:nvSpPr>
        <p:spPr>
          <a:xfrm>
            <a:off x="6461760" y="408432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9" name="DotN3"/>
          <p:cNvSpPr txBox="1"/>
          <p:nvPr/>
        </p:nvSpPr>
        <p:spPr>
          <a:xfrm>
            <a:off x="6461760" y="413918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Lab3"/>
          <p:cNvSpPr txBox="1"/>
          <p:nvPr/>
        </p:nvSpPr>
        <p:spPr>
          <a:xfrm>
            <a:off x="6918960" y="403860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Confirm</a:t>
            </a:r>
          </a:p>
        </p:txBody>
      </p:sp>
      <p:sp>
        <p:nvSpPr>
          <p:cNvPr id="31" name="Bd3"/>
          <p:cNvSpPr txBox="1"/>
          <p:nvPr/>
        </p:nvSpPr>
        <p:spPr>
          <a:xfrm>
            <a:off x="6918960" y="445008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Track bookings and updates in a familiar chat flow.</a:t>
            </a:r>
          </a:p>
        </p:txBody>
      </p:sp>
      <p:sp>
        <p:nvSpPr>
          <p:cNvPr id="32" name="Card4"/>
          <p:cNvSpPr/>
          <p:nvPr/>
        </p:nvSpPr>
        <p:spPr>
          <a:xfrm>
            <a:off x="548640" y="515112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3" name="Dot4"/>
          <p:cNvSpPr/>
          <p:nvPr/>
        </p:nvSpPr>
        <p:spPr>
          <a:xfrm>
            <a:off x="777240" y="542544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4" name="DotN4"/>
          <p:cNvSpPr txBox="1"/>
          <p:nvPr/>
        </p:nvSpPr>
        <p:spPr>
          <a:xfrm>
            <a:off x="777240" y="548030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5" name="Lab4"/>
          <p:cNvSpPr txBox="1"/>
          <p:nvPr/>
        </p:nvSpPr>
        <p:spPr>
          <a:xfrm>
            <a:off x="1234440" y="537972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Convert</a:t>
            </a:r>
          </a:p>
        </p:txBody>
      </p:sp>
      <p:sp>
        <p:nvSpPr>
          <p:cNvPr id="36" name="Bd4"/>
          <p:cNvSpPr txBox="1"/>
          <p:nvPr/>
        </p:nvSpPr>
        <p:spPr>
          <a:xfrm>
            <a:off x="1234440" y="579120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Reduce friction between planning and real 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Database Structure — MongoDB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14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LP"/>
          <p:cNvSpPr/>
          <p:nvPr/>
        </p:nvSpPr>
        <p:spPr>
          <a:xfrm>
            <a:off x="548640" y="1691640"/>
            <a:ext cx="53644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2" name="LH"/>
          <p:cNvSpPr/>
          <p:nvPr/>
        </p:nvSpPr>
        <p:spPr>
          <a:xfrm>
            <a:off x="548640" y="1691640"/>
            <a:ext cx="5364480" cy="640080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LHT"/>
          <p:cNvSpPr txBox="1"/>
          <p:nvPr/>
        </p:nvSpPr>
        <p:spPr>
          <a:xfrm>
            <a:off x="868680" y="1856232"/>
            <a:ext cx="490728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CORE COLLECTIONS</a:t>
            </a:r>
          </a:p>
        </p:txBody>
      </p:sp>
      <p:sp>
        <p:nvSpPr>
          <p:cNvPr id="14" name="LI"/>
          <p:cNvSpPr txBox="1"/>
          <p:nvPr/>
        </p:nvSpPr>
        <p:spPr>
          <a:xfrm>
            <a:off x="914400" y="2606040"/>
            <a:ext cx="4815840" cy="34290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Users — profile, credentials, contact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Preferences — trip type, budget, interests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Trips — destination, duration, travelers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Itineraries — day-by-day plan with places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Places — cached Google Places data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Reservations — WhatsApp request records</a:t>
            </a:r>
          </a:p>
        </p:txBody>
      </p:sp>
      <p:sp>
        <p:nvSpPr>
          <p:cNvPr id="15" name="RP"/>
          <p:cNvSpPr/>
          <p:nvPr/>
        </p:nvSpPr>
        <p:spPr>
          <a:xfrm>
            <a:off x="6278880" y="1691640"/>
            <a:ext cx="53644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6" name="RH"/>
          <p:cNvSpPr/>
          <p:nvPr/>
        </p:nvSpPr>
        <p:spPr>
          <a:xfrm>
            <a:off x="6278880" y="1691640"/>
            <a:ext cx="5364480" cy="64008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7" name="RHT"/>
          <p:cNvSpPr txBox="1"/>
          <p:nvPr/>
        </p:nvSpPr>
        <p:spPr>
          <a:xfrm>
            <a:off x="6598920" y="1856232"/>
            <a:ext cx="490728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KEY RELATIONSHIPS</a:t>
            </a:r>
          </a:p>
        </p:txBody>
      </p:sp>
      <p:sp>
        <p:nvSpPr>
          <p:cNvPr id="18" name="RI"/>
          <p:cNvSpPr txBox="1"/>
          <p:nvPr/>
        </p:nvSpPr>
        <p:spPr>
          <a:xfrm>
            <a:off x="6644640" y="2606040"/>
            <a:ext cx="4815840" cy="34290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One user → many trips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Each trip → one itinerary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Each itinerary → many places per day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Preferences feed the AI ranking engine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Reservations link users to specific places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F2937"/>
                </a:solidFill>
                <a:latin typeface="Calibri"/>
              </a:rPr>
              <a:t>·  History fuels smarter future recommendations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Sample User Flow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15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Lead"/>
          <p:cNvSpPr txBox="1"/>
          <p:nvPr/>
        </p:nvSpPr>
        <p:spPr>
          <a:xfrm>
            <a:off x="548640" y="1508760"/>
            <a:ext cx="1109472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600" i="1" dirty="0">
                <a:solidFill>
                  <a:srgbClr val="0D7B6F"/>
                </a:solidFill>
                <a:latin typeface="Calibri"/>
              </a:rPr>
              <a:t>From sign-in to a fully reserved trip in under a minute.</a:t>
            </a:r>
          </a:p>
        </p:txBody>
      </p:sp>
      <p:sp>
        <p:nvSpPr>
          <p:cNvPr id="12" name="FB00"/>
          <p:cNvSpPr/>
          <p:nvPr/>
        </p:nvSpPr>
        <p:spPr>
          <a:xfrm>
            <a:off x="548640" y="2697480"/>
            <a:ext cx="32410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B6F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FBT00"/>
          <p:cNvSpPr/>
          <p:nvPr/>
        </p:nvSpPr>
        <p:spPr>
          <a:xfrm>
            <a:off x="548640" y="2697480"/>
            <a:ext cx="3241040" cy="320040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4" name="FBN00"/>
          <p:cNvSpPr txBox="1"/>
          <p:nvPr/>
        </p:nvSpPr>
        <p:spPr>
          <a:xfrm>
            <a:off x="777240" y="2752344"/>
            <a:ext cx="278384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STEP 01</a:t>
            </a:r>
          </a:p>
        </p:txBody>
      </p:sp>
      <p:sp>
        <p:nvSpPr>
          <p:cNvPr id="15" name="FBL00"/>
          <p:cNvSpPr txBox="1"/>
          <p:nvPr/>
        </p:nvSpPr>
        <p:spPr>
          <a:xfrm>
            <a:off x="548640" y="3200400"/>
            <a:ext cx="3241040" cy="7315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800" b="1" dirty="0">
                <a:solidFill>
                  <a:srgbClr val="0F2A2E"/>
                </a:solidFill>
                <a:latin typeface="Calibri"/>
              </a:rPr>
              <a:t>Sign In</a:t>
            </a:r>
          </a:p>
        </p:txBody>
      </p:sp>
      <p:sp>
        <p:nvSpPr>
          <p:cNvPr id="16" name="FA00"/>
          <p:cNvSpPr/>
          <p:nvPr/>
        </p:nvSpPr>
        <p:spPr>
          <a:xfrm>
            <a:off x="3835400" y="3218688"/>
            <a:ext cx="274320" cy="237744"/>
          </a:xfrm>
          <a:prstGeom prst="rightArrow">
            <a:avLst/>
          </a:prstGeom>
          <a:solidFill>
            <a:srgbClr val="6B728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7" name="FB01"/>
          <p:cNvSpPr/>
          <p:nvPr/>
        </p:nvSpPr>
        <p:spPr>
          <a:xfrm>
            <a:off x="4475480" y="2697480"/>
            <a:ext cx="32410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F61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8" name="FBT01"/>
          <p:cNvSpPr/>
          <p:nvPr/>
        </p:nvSpPr>
        <p:spPr>
          <a:xfrm>
            <a:off x="4475480" y="2697480"/>
            <a:ext cx="3241040" cy="32004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9" name="FBN01"/>
          <p:cNvSpPr txBox="1"/>
          <p:nvPr/>
        </p:nvSpPr>
        <p:spPr>
          <a:xfrm>
            <a:off x="4704080" y="2752344"/>
            <a:ext cx="278384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STEP 02</a:t>
            </a:r>
          </a:p>
        </p:txBody>
      </p:sp>
      <p:sp>
        <p:nvSpPr>
          <p:cNvPr id="20" name="FBL01"/>
          <p:cNvSpPr txBox="1"/>
          <p:nvPr/>
        </p:nvSpPr>
        <p:spPr>
          <a:xfrm>
            <a:off x="4475480" y="3200400"/>
            <a:ext cx="3241040" cy="7315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800" b="1" dirty="0">
                <a:solidFill>
                  <a:srgbClr val="0F2A2E"/>
                </a:solidFill>
                <a:latin typeface="Calibri"/>
              </a:rPr>
              <a:t>Enter Trip Details</a:t>
            </a:r>
          </a:p>
        </p:txBody>
      </p:sp>
      <p:sp>
        <p:nvSpPr>
          <p:cNvPr id="21" name="FA01"/>
          <p:cNvSpPr/>
          <p:nvPr/>
        </p:nvSpPr>
        <p:spPr>
          <a:xfrm>
            <a:off x="7762240" y="3218688"/>
            <a:ext cx="274320" cy="237744"/>
          </a:xfrm>
          <a:prstGeom prst="rightArrow">
            <a:avLst/>
          </a:prstGeom>
          <a:solidFill>
            <a:srgbClr val="6B728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2" name="FB02"/>
          <p:cNvSpPr/>
          <p:nvPr/>
        </p:nvSpPr>
        <p:spPr>
          <a:xfrm>
            <a:off x="8402320" y="2697480"/>
            <a:ext cx="32410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B6F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3" name="FBT02"/>
          <p:cNvSpPr/>
          <p:nvPr/>
        </p:nvSpPr>
        <p:spPr>
          <a:xfrm>
            <a:off x="8402320" y="2697480"/>
            <a:ext cx="3241040" cy="320040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4" name="FBN02"/>
          <p:cNvSpPr txBox="1"/>
          <p:nvPr/>
        </p:nvSpPr>
        <p:spPr>
          <a:xfrm>
            <a:off x="8630920" y="2752344"/>
            <a:ext cx="278384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STEP 03</a:t>
            </a:r>
          </a:p>
        </p:txBody>
      </p:sp>
      <p:sp>
        <p:nvSpPr>
          <p:cNvPr id="25" name="FBL02"/>
          <p:cNvSpPr txBox="1"/>
          <p:nvPr/>
        </p:nvSpPr>
        <p:spPr>
          <a:xfrm>
            <a:off x="8402320" y="3200400"/>
            <a:ext cx="3241040" cy="7315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800" b="1" dirty="0">
                <a:solidFill>
                  <a:srgbClr val="0F2A2E"/>
                </a:solidFill>
                <a:latin typeface="Calibri"/>
              </a:rPr>
              <a:t>AI Generates Itinerary</a:t>
            </a:r>
          </a:p>
        </p:txBody>
      </p:sp>
      <p:sp>
        <p:nvSpPr>
          <p:cNvPr id="26" name="FB10"/>
          <p:cNvSpPr/>
          <p:nvPr/>
        </p:nvSpPr>
        <p:spPr>
          <a:xfrm>
            <a:off x="548640" y="4434840"/>
            <a:ext cx="32410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F61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7" name="FBT10"/>
          <p:cNvSpPr/>
          <p:nvPr/>
        </p:nvSpPr>
        <p:spPr>
          <a:xfrm>
            <a:off x="548640" y="4434840"/>
            <a:ext cx="3241040" cy="32004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8" name="FBN10"/>
          <p:cNvSpPr txBox="1"/>
          <p:nvPr/>
        </p:nvSpPr>
        <p:spPr>
          <a:xfrm>
            <a:off x="777240" y="4489704"/>
            <a:ext cx="278384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STEP 04</a:t>
            </a:r>
          </a:p>
        </p:txBody>
      </p:sp>
      <p:sp>
        <p:nvSpPr>
          <p:cNvPr id="29" name="FBL10"/>
          <p:cNvSpPr txBox="1"/>
          <p:nvPr/>
        </p:nvSpPr>
        <p:spPr>
          <a:xfrm>
            <a:off x="548640" y="4937760"/>
            <a:ext cx="3241040" cy="7315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800" b="1" dirty="0">
                <a:solidFill>
                  <a:srgbClr val="0F2A2E"/>
                </a:solidFill>
                <a:latin typeface="Calibri"/>
              </a:rPr>
              <a:t>Review on Interactive Map</a:t>
            </a:r>
          </a:p>
        </p:txBody>
      </p:sp>
      <p:sp>
        <p:nvSpPr>
          <p:cNvPr id="30" name="FA10"/>
          <p:cNvSpPr/>
          <p:nvPr/>
        </p:nvSpPr>
        <p:spPr>
          <a:xfrm>
            <a:off x="3835400" y="4956048"/>
            <a:ext cx="274320" cy="237744"/>
          </a:xfrm>
          <a:prstGeom prst="rightArrow">
            <a:avLst/>
          </a:prstGeom>
          <a:solidFill>
            <a:srgbClr val="6B728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1" name="FB11"/>
          <p:cNvSpPr/>
          <p:nvPr/>
        </p:nvSpPr>
        <p:spPr>
          <a:xfrm>
            <a:off x="4475480" y="4434840"/>
            <a:ext cx="32410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B6F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2" name="FBT11"/>
          <p:cNvSpPr/>
          <p:nvPr/>
        </p:nvSpPr>
        <p:spPr>
          <a:xfrm>
            <a:off x="4475480" y="4434840"/>
            <a:ext cx="3241040" cy="320040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3" name="FBN11"/>
          <p:cNvSpPr txBox="1"/>
          <p:nvPr/>
        </p:nvSpPr>
        <p:spPr>
          <a:xfrm>
            <a:off x="4704080" y="4489704"/>
            <a:ext cx="278384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STEP 05</a:t>
            </a:r>
          </a:p>
        </p:txBody>
      </p:sp>
      <p:sp>
        <p:nvSpPr>
          <p:cNvPr id="34" name="FBL11"/>
          <p:cNvSpPr txBox="1"/>
          <p:nvPr/>
        </p:nvSpPr>
        <p:spPr>
          <a:xfrm>
            <a:off x="4475480" y="4937760"/>
            <a:ext cx="3241040" cy="7315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800" b="1" dirty="0">
                <a:solidFill>
                  <a:srgbClr val="0F2A2E"/>
                </a:solidFill>
                <a:latin typeface="Calibri"/>
              </a:rPr>
              <a:t>Reserve via WhatsApp</a:t>
            </a:r>
          </a:p>
        </p:txBody>
      </p:sp>
      <p:sp>
        <p:nvSpPr>
          <p:cNvPr id="35" name="FA11"/>
          <p:cNvSpPr/>
          <p:nvPr/>
        </p:nvSpPr>
        <p:spPr>
          <a:xfrm>
            <a:off x="7762240" y="4956048"/>
            <a:ext cx="274320" cy="237744"/>
          </a:xfrm>
          <a:prstGeom prst="rightArrow">
            <a:avLst/>
          </a:prstGeom>
          <a:solidFill>
            <a:srgbClr val="6B7280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6" name="FB12"/>
          <p:cNvSpPr/>
          <p:nvPr/>
        </p:nvSpPr>
        <p:spPr>
          <a:xfrm>
            <a:off x="8402320" y="4434840"/>
            <a:ext cx="32410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F61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7" name="FBT12"/>
          <p:cNvSpPr/>
          <p:nvPr/>
        </p:nvSpPr>
        <p:spPr>
          <a:xfrm>
            <a:off x="8402320" y="4434840"/>
            <a:ext cx="3241040" cy="32004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8" name="FBN12"/>
          <p:cNvSpPr txBox="1"/>
          <p:nvPr/>
        </p:nvSpPr>
        <p:spPr>
          <a:xfrm>
            <a:off x="8630920" y="4489704"/>
            <a:ext cx="278384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STEP 06</a:t>
            </a:r>
          </a:p>
        </p:txBody>
      </p:sp>
      <p:sp>
        <p:nvSpPr>
          <p:cNvPr id="39" name="FBL12"/>
          <p:cNvSpPr txBox="1"/>
          <p:nvPr/>
        </p:nvSpPr>
        <p:spPr>
          <a:xfrm>
            <a:off x="8402320" y="4937760"/>
            <a:ext cx="3241040" cy="7315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800" b="1" dirty="0">
                <a:solidFill>
                  <a:srgbClr val="0F2A2E"/>
                </a:solidFill>
                <a:latin typeface="Calibri"/>
              </a:rPr>
              <a:t>Save &amp; Share Trip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Example Generated Itinerary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16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Sub"/>
          <p:cNvSpPr txBox="1"/>
          <p:nvPr/>
        </p:nvSpPr>
        <p:spPr>
          <a:xfrm>
            <a:off x="548640" y="1508760"/>
            <a:ext cx="11094720" cy="3657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200" b="1" dirty="0">
                <a:solidFill>
                  <a:srgbClr val="FF6F61"/>
                </a:solidFill>
                <a:latin typeface="Calibri"/>
              </a:rPr>
              <a:t>Destination · Istanbul   |   Duration · 3 Days   |   Budget · Medium   |   Type · Cultural</a:t>
            </a:r>
          </a:p>
        </p:txBody>
      </p:sp>
      <p:sp>
        <p:nvSpPr>
          <p:cNvPr id="12" name="BannerBG"/>
          <p:cNvSpPr/>
          <p:nvPr/>
        </p:nvSpPr>
        <p:spPr>
          <a:xfrm>
            <a:off x="502920" y="1828799"/>
            <a:ext cx="11186160" cy="914400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pic>
        <p:nvPicPr>
          <p:cNvPr id="13" name="Banner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48640" y="1874519"/>
            <a:ext cx="11094720" cy="822960"/>
          </a:xfrm>
          <a:prstGeom prst="rect">
            <a:avLst/>
          </a:prstGeom>
        </p:spPr>
      </p:pic>
      <p:sp>
        <p:nvSpPr>
          <p:cNvPr id="14" name="DC0"/>
          <p:cNvSpPr/>
          <p:nvPr/>
        </p:nvSpPr>
        <p:spPr>
          <a:xfrm>
            <a:off x="548640" y="2880360"/>
            <a:ext cx="3515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5" name="DH0"/>
          <p:cNvSpPr/>
          <p:nvPr/>
        </p:nvSpPr>
        <p:spPr>
          <a:xfrm>
            <a:off x="548640" y="2880360"/>
            <a:ext cx="3515360" cy="640080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6" name="DT0"/>
          <p:cNvSpPr txBox="1"/>
          <p:nvPr/>
        </p:nvSpPr>
        <p:spPr>
          <a:xfrm>
            <a:off x="777240" y="3044952"/>
            <a:ext cx="305816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Day 1 — Historic Heart</a:t>
            </a:r>
          </a:p>
        </p:txBody>
      </p:sp>
      <p:sp>
        <p:nvSpPr>
          <p:cNvPr id="17" name="DI0"/>
          <p:cNvSpPr txBox="1"/>
          <p:nvPr/>
        </p:nvSpPr>
        <p:spPr>
          <a:xfrm>
            <a:off x="822960" y="3794760"/>
            <a:ext cx="2966720" cy="23317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Hagia Sophia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Blue Mosque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Lunch · Sultanahmet Köftecisi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Topkapi Palace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Sunset · Galata Bridge</a:t>
            </a:r>
          </a:p>
        </p:txBody>
      </p:sp>
      <p:sp>
        <p:nvSpPr>
          <p:cNvPr id="18" name="DC1"/>
          <p:cNvSpPr/>
          <p:nvPr/>
        </p:nvSpPr>
        <p:spPr>
          <a:xfrm>
            <a:off x="4338320" y="2880360"/>
            <a:ext cx="3515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9" name="DH1"/>
          <p:cNvSpPr/>
          <p:nvPr/>
        </p:nvSpPr>
        <p:spPr>
          <a:xfrm>
            <a:off x="4338320" y="2880360"/>
            <a:ext cx="3515360" cy="64008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0" name="DT1"/>
          <p:cNvSpPr txBox="1"/>
          <p:nvPr/>
        </p:nvSpPr>
        <p:spPr>
          <a:xfrm>
            <a:off x="4566920" y="3044952"/>
            <a:ext cx="305816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Day 2 — Bazaars &amp; Bosphorus</a:t>
            </a:r>
          </a:p>
        </p:txBody>
      </p:sp>
      <p:sp>
        <p:nvSpPr>
          <p:cNvPr id="21" name="DI1"/>
          <p:cNvSpPr txBox="1"/>
          <p:nvPr/>
        </p:nvSpPr>
        <p:spPr>
          <a:xfrm>
            <a:off x="4612640" y="3794760"/>
            <a:ext cx="2966720" cy="23317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Grand Bazaar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Spice Bazaar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Bosphorus Cruise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Dinner in Karaköy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Rooftop café coffee</a:t>
            </a:r>
          </a:p>
        </p:txBody>
      </p:sp>
      <p:sp>
        <p:nvSpPr>
          <p:cNvPr id="22" name="DC2"/>
          <p:cNvSpPr/>
          <p:nvPr/>
        </p:nvSpPr>
        <p:spPr>
          <a:xfrm>
            <a:off x="8128000" y="2880360"/>
            <a:ext cx="3515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3" name="DH2"/>
          <p:cNvSpPr/>
          <p:nvPr/>
        </p:nvSpPr>
        <p:spPr>
          <a:xfrm>
            <a:off x="8128000" y="2880360"/>
            <a:ext cx="3515360" cy="640080"/>
          </a:xfrm>
          <a:prstGeom prst="rect">
            <a:avLst/>
          </a:prstGeom>
          <a:solidFill>
            <a:srgbClr val="0F2A2E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4" name="DT2"/>
          <p:cNvSpPr txBox="1"/>
          <p:nvPr/>
        </p:nvSpPr>
        <p:spPr>
          <a:xfrm>
            <a:off x="8356600" y="3044952"/>
            <a:ext cx="305816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Day 3 — Modern Istanbul</a:t>
            </a:r>
          </a:p>
        </p:txBody>
      </p:sp>
      <p:sp>
        <p:nvSpPr>
          <p:cNvPr id="25" name="DI2"/>
          <p:cNvSpPr txBox="1"/>
          <p:nvPr/>
        </p:nvSpPr>
        <p:spPr>
          <a:xfrm>
            <a:off x="8402320" y="3794760"/>
            <a:ext cx="2966720" cy="23317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Dolmabahçe Palace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İstiklal Street walk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Lunch in Taksim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Galata Tower view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·  Farewell seaside dinner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Hair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D7B6F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" name="Kicker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b="1" dirty="0">
                <a:solidFill>
                  <a:srgbClr val="6B7280"/>
                </a:solidFill>
                <a:latin typeface="Calibri"/>
              </a:rPr>
              <a:t>TRIP PLANNER · GRADUATION PROJECT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02920"/>
            <a:ext cx="990600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3200" b="1" dirty="0">
                <a:solidFill>
                  <a:srgbClr val="0F2A2E"/>
                </a:solidFill>
                <a:latin typeface="Calibri"/>
              </a:rPr>
              <a:t>Future Scalability</a:t>
            </a:r>
          </a:p>
        </p:txBody>
      </p:sp>
      <p:sp>
        <p:nvSpPr>
          <p:cNvPr id="5" name="Underline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6" name="PageBig"/>
          <p:cNvSpPr txBox="1"/>
          <p:nvPr/>
        </p:nvSpPr>
        <p:spPr>
          <a:xfrm>
            <a:off x="10728960" y="228600"/>
            <a:ext cx="1097280" cy="9144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4400" b="1" dirty="0">
                <a:solidFill>
                  <a:srgbClr val="F3F1EC"/>
                </a:solidFill>
                <a:latin typeface="Calibri"/>
              </a:rPr>
              <a:t>17</a:t>
            </a:r>
          </a:p>
        </p:txBody>
      </p:sp>
      <p:sp>
        <p:nvSpPr>
          <p:cNvPr id="7" name="PageSmall"/>
          <p:cNvSpPr txBox="1"/>
          <p:nvPr/>
        </p:nvSpPr>
        <p:spPr>
          <a:xfrm>
            <a:off x="10728960" y="960120"/>
            <a:ext cx="109728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1000" b="1" dirty="0">
                <a:solidFill>
                  <a:srgbClr val="6B7280"/>
                </a:solidFill>
                <a:latin typeface="Calibri"/>
              </a:rPr>
              <a:t>of 18</a:t>
            </a:r>
          </a:p>
        </p:txBody>
      </p:sp>
      <p:sp>
        <p:nvSpPr>
          <p:cNvPr id="8" name="FootHair"/>
          <p:cNvSpPr/>
          <p:nvPr/>
        </p:nvSpPr>
        <p:spPr>
          <a:xfrm>
            <a:off x="548640" y="6446520"/>
            <a:ext cx="11094720" cy="9144"/>
          </a:xfrm>
          <a:prstGeom prst="rect">
            <a:avLst/>
          </a:prstGeom>
          <a:solidFill>
            <a:srgbClr val="E5E7EB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9" name="FootL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Calibri"/>
              </a:rPr>
              <a:t>trip planner  ·  ai-powered itineraries</a:t>
            </a:r>
          </a:p>
        </p:txBody>
      </p:sp>
      <p:sp>
        <p:nvSpPr>
          <p:cNvPr id="10" name="FootR"/>
          <p:cNvSpPr txBox="1"/>
          <p:nvPr/>
        </p:nvSpPr>
        <p:spPr>
          <a:xfrm>
            <a:off x="7620000" y="6492240"/>
            <a:ext cx="4023360" cy="2743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r"/>
            <a:r>
              <a:rPr lang="en-US" sz="900" dirty="0">
                <a:solidFill>
                  <a:srgbClr val="6B7280"/>
                </a:solidFill>
                <a:latin typeface="Calibri"/>
              </a:rPr>
              <a:t>graduation project · 2026</a:t>
            </a:r>
          </a:p>
        </p:txBody>
      </p:sp>
      <p:sp>
        <p:nvSpPr>
          <p:cNvPr id="11" name="Lead"/>
          <p:cNvSpPr txBox="1"/>
          <p:nvPr/>
        </p:nvSpPr>
        <p:spPr>
          <a:xfrm>
            <a:off x="548640" y="1554480"/>
            <a:ext cx="11094720" cy="73152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800" i="1" dirty="0">
                <a:solidFill>
                  <a:srgbClr val="0D7B6F"/>
                </a:solidFill>
                <a:latin typeface="Calibri"/>
              </a:rPr>
              <a:t>A foundation ready to grow with users and ambition.</a:t>
            </a:r>
          </a:p>
        </p:txBody>
      </p:sp>
      <p:sp>
        <p:nvSpPr>
          <p:cNvPr id="12" name="Card0"/>
          <p:cNvSpPr/>
          <p:nvPr/>
        </p:nvSpPr>
        <p:spPr>
          <a:xfrm>
            <a:off x="548640" y="246888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3" name="Dot0"/>
          <p:cNvSpPr/>
          <p:nvPr/>
        </p:nvSpPr>
        <p:spPr>
          <a:xfrm>
            <a:off x="777240" y="274320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4" name="DotN0"/>
          <p:cNvSpPr txBox="1"/>
          <p:nvPr/>
        </p:nvSpPr>
        <p:spPr>
          <a:xfrm>
            <a:off x="777240" y="279806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Lab0"/>
          <p:cNvSpPr txBox="1"/>
          <p:nvPr/>
        </p:nvSpPr>
        <p:spPr>
          <a:xfrm>
            <a:off x="1234440" y="269748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Reach</a:t>
            </a:r>
          </a:p>
        </p:txBody>
      </p:sp>
      <p:sp>
        <p:nvSpPr>
          <p:cNvPr id="16" name="Bd0"/>
          <p:cNvSpPr txBox="1"/>
          <p:nvPr/>
        </p:nvSpPr>
        <p:spPr>
          <a:xfrm>
            <a:off x="1234440" y="310896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Multi-language support for international travelers.</a:t>
            </a:r>
          </a:p>
        </p:txBody>
      </p:sp>
      <p:sp>
        <p:nvSpPr>
          <p:cNvPr id="17" name="Card1"/>
          <p:cNvSpPr/>
          <p:nvPr/>
        </p:nvSpPr>
        <p:spPr>
          <a:xfrm>
            <a:off x="6233160" y="246888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8" name="Dot1"/>
          <p:cNvSpPr/>
          <p:nvPr/>
        </p:nvSpPr>
        <p:spPr>
          <a:xfrm>
            <a:off x="6461760" y="274320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19" name="DotN1"/>
          <p:cNvSpPr txBox="1"/>
          <p:nvPr/>
        </p:nvSpPr>
        <p:spPr>
          <a:xfrm>
            <a:off x="6461760" y="279806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Lab1"/>
          <p:cNvSpPr txBox="1"/>
          <p:nvPr/>
        </p:nvSpPr>
        <p:spPr>
          <a:xfrm>
            <a:off x="6918960" y="269748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Mobile</a:t>
            </a:r>
          </a:p>
        </p:txBody>
      </p:sp>
      <p:sp>
        <p:nvSpPr>
          <p:cNvPr id="21" name="Bd1"/>
          <p:cNvSpPr txBox="1"/>
          <p:nvPr/>
        </p:nvSpPr>
        <p:spPr>
          <a:xfrm>
            <a:off x="6918960" y="310896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Native iOS and Android applications.</a:t>
            </a:r>
          </a:p>
        </p:txBody>
      </p:sp>
      <p:sp>
        <p:nvSpPr>
          <p:cNvPr id="22" name="Card2"/>
          <p:cNvSpPr/>
          <p:nvPr/>
        </p:nvSpPr>
        <p:spPr>
          <a:xfrm>
            <a:off x="548640" y="381000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3" name="Dot2"/>
          <p:cNvSpPr/>
          <p:nvPr/>
        </p:nvSpPr>
        <p:spPr>
          <a:xfrm>
            <a:off x="777240" y="408432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4" name="DotN2"/>
          <p:cNvSpPr txBox="1"/>
          <p:nvPr/>
        </p:nvSpPr>
        <p:spPr>
          <a:xfrm>
            <a:off x="777240" y="413918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Lab2"/>
          <p:cNvSpPr txBox="1"/>
          <p:nvPr/>
        </p:nvSpPr>
        <p:spPr>
          <a:xfrm>
            <a:off x="1234440" y="403860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Bookings</a:t>
            </a:r>
          </a:p>
        </p:txBody>
      </p:sp>
      <p:sp>
        <p:nvSpPr>
          <p:cNvPr id="26" name="Bd2"/>
          <p:cNvSpPr txBox="1"/>
          <p:nvPr/>
        </p:nvSpPr>
        <p:spPr>
          <a:xfrm>
            <a:off x="1234440" y="445008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Direct integrations with hotels and flights.</a:t>
            </a:r>
          </a:p>
        </p:txBody>
      </p:sp>
      <p:sp>
        <p:nvSpPr>
          <p:cNvPr id="27" name="Card3"/>
          <p:cNvSpPr/>
          <p:nvPr/>
        </p:nvSpPr>
        <p:spPr>
          <a:xfrm>
            <a:off x="6233160" y="381000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8" name="Dot3"/>
          <p:cNvSpPr/>
          <p:nvPr/>
        </p:nvSpPr>
        <p:spPr>
          <a:xfrm>
            <a:off x="6461760" y="408432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29" name="DotN3"/>
          <p:cNvSpPr txBox="1"/>
          <p:nvPr/>
        </p:nvSpPr>
        <p:spPr>
          <a:xfrm>
            <a:off x="6461760" y="413918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Lab3"/>
          <p:cNvSpPr txBox="1"/>
          <p:nvPr/>
        </p:nvSpPr>
        <p:spPr>
          <a:xfrm>
            <a:off x="6918960" y="403860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Collab</a:t>
            </a:r>
          </a:p>
        </p:txBody>
      </p:sp>
      <p:sp>
        <p:nvSpPr>
          <p:cNvPr id="31" name="Bd3"/>
          <p:cNvSpPr txBox="1"/>
          <p:nvPr/>
        </p:nvSpPr>
        <p:spPr>
          <a:xfrm>
            <a:off x="6918960" y="445008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Group trip planning with shared itineraries.</a:t>
            </a:r>
          </a:p>
        </p:txBody>
      </p:sp>
      <p:sp>
        <p:nvSpPr>
          <p:cNvPr id="32" name="Card4"/>
          <p:cNvSpPr/>
          <p:nvPr/>
        </p:nvSpPr>
        <p:spPr>
          <a:xfrm>
            <a:off x="548640" y="515112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3" name="Dot4"/>
          <p:cNvSpPr/>
          <p:nvPr/>
        </p:nvSpPr>
        <p:spPr>
          <a:xfrm>
            <a:off x="777240" y="542544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4" name="DotN4"/>
          <p:cNvSpPr txBox="1"/>
          <p:nvPr/>
        </p:nvSpPr>
        <p:spPr>
          <a:xfrm>
            <a:off x="777240" y="548030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5" name="Lab4"/>
          <p:cNvSpPr txBox="1"/>
          <p:nvPr/>
        </p:nvSpPr>
        <p:spPr>
          <a:xfrm>
            <a:off x="1234440" y="537972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Smarter AI</a:t>
            </a:r>
          </a:p>
        </p:txBody>
      </p:sp>
      <p:sp>
        <p:nvSpPr>
          <p:cNvPr id="36" name="Bd4"/>
          <p:cNvSpPr txBox="1"/>
          <p:nvPr/>
        </p:nvSpPr>
        <p:spPr>
          <a:xfrm>
            <a:off x="1234440" y="579120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Personalization driven by larger user datasets.</a:t>
            </a:r>
          </a:p>
        </p:txBody>
      </p:sp>
      <p:sp>
        <p:nvSpPr>
          <p:cNvPr id="37" name="Card5"/>
          <p:cNvSpPr/>
          <p:nvPr/>
        </p:nvSpPr>
        <p:spPr>
          <a:xfrm>
            <a:off x="6233160" y="5151120"/>
            <a:ext cx="5410200" cy="1066800"/>
          </a:xfrm>
          <a:prstGeom prst="rect">
            <a:avLst/>
          </a:prstGeom>
          <a:solidFill>
            <a:srgbClr val="F3F1EC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8" name="Dot5"/>
          <p:cNvSpPr/>
          <p:nvPr/>
        </p:nvSpPr>
        <p:spPr>
          <a:xfrm>
            <a:off x="6461760" y="5425440"/>
            <a:ext cx="320040" cy="320040"/>
          </a:xfrm>
          <a:prstGeom prst="ellipse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39" name="DotN5"/>
          <p:cNvSpPr txBox="1"/>
          <p:nvPr/>
        </p:nvSpPr>
        <p:spPr>
          <a:xfrm>
            <a:off x="6461760" y="5480304"/>
            <a:ext cx="320040" cy="274320"/>
          </a:xfrm>
          <a:prstGeom prst="rect">
            <a:avLst/>
          </a:prstGeom>
          <a:noFill/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0" name="Lab5"/>
          <p:cNvSpPr txBox="1"/>
          <p:nvPr/>
        </p:nvSpPr>
        <p:spPr>
          <a:xfrm>
            <a:off x="6918960" y="5379720"/>
            <a:ext cx="4495800" cy="411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/>
            <a:r>
              <a:rPr lang="en-US" sz="1400" b="1" dirty="0">
                <a:solidFill>
                  <a:srgbClr val="0F2A2E"/>
                </a:solidFill>
                <a:latin typeface="Calibri"/>
              </a:rPr>
              <a:t>Cloud</a:t>
            </a:r>
          </a:p>
        </p:txBody>
      </p:sp>
      <p:sp>
        <p:nvSpPr>
          <p:cNvPr id="41" name="Bd5"/>
          <p:cNvSpPr txBox="1"/>
          <p:nvPr/>
        </p:nvSpPr>
        <p:spPr>
          <a:xfrm>
            <a:off x="6918960" y="5791200"/>
            <a:ext cx="4495800" cy="28956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F2937"/>
                </a:solidFill>
                <a:latin typeface="Calibri"/>
              </a:rPr>
              <a:t>Scalable deployment with caching and load balancing.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eed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A2E">
              <a:alpha val="78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Bar"/>
          <p:cNvSpPr/>
          <p:nvPr/>
        </p:nvSpPr>
        <p:spPr>
          <a:xfrm>
            <a:off x="5638800" y="4617720"/>
            <a:ext cx="914400" cy="54864"/>
          </a:xfrm>
          <a:prstGeom prst="rect">
            <a:avLst/>
          </a:prstGeom>
          <a:solidFill>
            <a:srgbClr val="FF6F61"/>
          </a:solidFill>
        </p:spPr>
        <p:txBody>
          <a:bodyPr wrap="square" anchor="ctr" lIns="91440" tIns="45720" rIns="91440" bIns="45720"/>
          <a:lstStyle/>
          <a:p>
            <a:endParaRPr lang="en-US"/>
          </a:p>
        </p:txBody>
      </p:sp>
      <p:sp>
        <p:nvSpPr>
          <p:cNvPr id="5" name="T"/>
          <p:cNvSpPr txBox="1"/>
          <p:nvPr/>
        </p:nvSpPr>
        <p:spPr>
          <a:xfrm>
            <a:off x="0" y="1828800"/>
            <a:ext cx="12192000" cy="15544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ctr"/>
            <a:r>
              <a:rPr lang="en-US" sz="9600" b="1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Sub"/>
          <p:cNvSpPr txBox="1"/>
          <p:nvPr/>
        </p:nvSpPr>
        <p:spPr>
          <a:xfrm>
            <a:off x="0" y="3566160"/>
            <a:ext cx="12192000" cy="64008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ctr"/>
            <a:r>
              <a:rPr lang="en-US" sz="2200" i="1" dirty="0">
                <a:solidFill>
                  <a:srgbClr val="E8E8E8"/>
                </a:solidFill>
                <a:latin typeface="Calibri"/>
              </a:rPr>
              <a:t>Trip Planner — Smarter trips, effortlessly planned.</a:t>
            </a:r>
          </a:p>
        </p:txBody>
      </p:sp>
      <p:sp>
        <p:nvSpPr>
          <p:cNvPr id="7" name="Foot"/>
          <p:cNvSpPr txBox="1"/>
          <p:nvPr/>
        </p:nvSpPr>
        <p:spPr>
          <a:xfrm>
            <a:off x="0" y="4754880"/>
            <a:ext cx="12192000" cy="457200"/>
          </a:xfrm>
          <a:prstGeom prst="rect">
            <a:avLst/>
          </a:prstGeom>
          <a:noFill/>
        </p:spPr>
        <p:txBody>
          <a:bodyPr wrap="square" anchor="t" lIns="91440" tIns="45720" rIns="91440" bIns="45720"/>
          <a:lstStyle/>
          <a:p>
            <a:pPr algn="ctr"/>
            <a:r>
              <a:rPr lang="en-US" sz="1400" b="1" dirty="0">
                <a:solidFill>
                  <a:srgbClr val="FF6F61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p Planner v2">
  <a:themeElements>
    <a:clrScheme name="Trip Planner v2">
      <a:dk1>
        <a:sysClr val="windowText" lastClr="000000"/>
      </a:dk1>
      <a:lt1>
        <a:sysClr val="window" lastClr="FFFFFF"/>
      </a:lt1>
      <a:dk2>
        <a:srgbClr val="0F2A2E"/>
      </a:dk2>
      <a:lt2>
        <a:srgbClr val="FAF6F0"/>
      </a:lt2>
      <a:accent1>
        <a:srgbClr val="0D7B6F"/>
      </a:accent1>
      <a:accent2>
        <a:srgbClr val="FF6F61"/>
      </a:accent2>
      <a:accent3>
        <a:srgbClr val="0F2A2E"/>
      </a:accent3>
      <a:accent4>
        <a:srgbClr val="6B7280"/>
      </a:accent4>
      <a:accent5>
        <a:srgbClr val="E5E7EB"/>
      </a:accent5>
      <a:accent6>
        <a:srgbClr val="F3F1EC"/>
      </a:accent6>
      <a:hlink>
        <a:srgbClr val="0D7B6F"/>
      </a:hlink>
      <a:folHlink>
        <a:srgbClr val="FF6F61"/>
      </a:folHlink>
    </a:clrScheme>
    <a:fontScheme name="Trip Planner v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Trip Planner Builder v2</Application>
  <Slides>18</Slides>
  <PresentationFormat>Widescreen</PresentationFormat>
  <TitlesOfParts>
    <vt:vector size="1" baseType="lpstr">
      <vt:lpstr>Trip Planner Graduation — Design v2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Trip Planner — Graduation Project (v2)</dc:title>
  <dc:creator>Trip Planner Team</dc:creator>
  <cp:lastModifiedBy>Trip Planner Team</cp:lastModifiedBy>
  <dcterms:created xsi:type="dcterms:W3CDTF">2026-04-27T23:22:28Z</dcterms:created>
  <dcterms:modified xsi:type="dcterms:W3CDTF">2026-04-27T23:22:28Z</dcterms:modified>
</cp:coreProperties>
</file>